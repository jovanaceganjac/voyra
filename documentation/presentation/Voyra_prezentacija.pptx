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2A45"/>
                </a:solidFill>
                <a:latin typeface="Calibri"/>
              </a:defRPr>
            </a:pPr>
            <a:r>
              <a:rPr sz="1400" b="0" i="0" u="none" strike="noStrike">
                <a:solidFill>
                  <a:srgbClr val="102A45"/>
                </a:solidFill>
                <a:latin typeface="Calibri"/>
              </a:rPr>
              <a:t>Цео план са празним кешом (с)</a:t>
            </a:r>
          </a:p>
        </c:rich>
      </c:tx>
      <c:layout/>
      <c:overlay val="0"/>
    </c:title>
    <c:autoTitleDeleted val="0"/>
    <c:plotArea>
      <c:layout/>
      <c:barChart>
        <c:barDir val="col"/>
        <c:grouping val="clustered"/>
        <c:varyColors val="0"/>
        <c:ser>
          <c:idx val="0"/>
          <c:order val="0"/>
          <c:tx>
            <c:strRef>
              <c:f>Sheet1!$B$1</c:f>
              <c:strCache>
                <c:ptCount val="1"/>
                <c:pt idx="0">
                  <c:v>Празан кеш (с)</c:v>
                </c:pt>
              </c:strCache>
            </c:strRef>
          </c:tx>
          <c:spPr>
            <a:solidFill>
              <a:srgbClr val="16385E"/>
            </a:solidFill>
            <a:effectLst/>
          </c:spPr>
          <c:invertIfNegative val="0"/>
          <c:dLbls>
            <c:numFmt formatCode="0.0" sourceLinked="0"/>
            <c:txPr>
              <a:bodyPr/>
              <a:lstStyle/>
              <a:p>
                <a:pPr>
                  <a:defRPr b="0" i="0" strike="noStrike" sz="1200" u="none">
                    <a:solidFill>
                      <a:srgbClr val="102A45"/>
                    </a:solidFill>
                    <a:latin typeface="Arial"/>
                  </a:defRPr>
                </a:pPr>
              </a:p>
            </c:txPr>
            <c:showLegendKey val="0"/>
            <c:showVal val="1"/>
            <c:showCatName val="0"/>
            <c:showSerName val="0"/>
            <c:showPercent val="0"/>
            <c:showBubbleSize val="0"/>
            <c:showLeaderLines val="0"/>
          </c:dLbls>
          <c:cat>
            <c:multiLvlStrRef>
              <c:f>Sheet1!$A$2:$A$5</c:f>
              <c:multiLvlStrCache>
                <c:ptCount val="4"/>
                <c:lvl>
                  <c:pt idx="0">
                    <c:v>Атина, 5 дана</c:v>
                  </c:pt>
                  <c:pt idx="1">
                    <c:v>Рим, 7 дана</c:v>
                  </c:pt>
                  <c:pt idx="2">
                    <c:v>Париз, 4 дана</c:v>
                  </c:pt>
                  <c:pt idx="3">
                    <c:v>Атина, mock</c:v>
                  </c:pt>
                </c:lvl>
              </c:multiLvlStrCache>
            </c:multiLvlStrRef>
          </c:cat>
          <c:val>
            <c:numRef>
              <c:f>Sheet1!$B$2:$B$5</c:f>
              <c:numCache>
                <c:formatCode>General</c:formatCode>
                <c:ptCount val="4"/>
                <c:pt idx="0">
                  <c:v>7.7</c:v>
                </c:pt>
                <c:pt idx="1">
                  <c:v>12.8</c:v>
                </c:pt>
                <c:pt idx="2">
                  <c:v>17.9</c:v>
                </c:pt>
                <c:pt idx="3">
                  <c:v>1</c:v>
                </c:pt>
              </c:numCache>
            </c:numRef>
          </c:val>
        </c:ser>
        <c:dLbls>
          <c:numFmt formatCode="0.0" sourceLinked="0"/>
          <c:txPr>
            <a:bodyPr/>
            <a:lstStyle/>
            <a:p>
              <a:pPr>
                <a:defRPr b="0" i="0" strike="noStrike" sz="1200" u="none">
                  <a:solidFill>
                    <a:srgbClr val="102A45"/>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7A"/>
                </a:solidFill>
                <a:latin typeface="Arial"/>
              </a:defRPr>
            </a:pPr>
            <a:endParaRPr lang="en-US"/>
          </a:p>
        </c:txPr>
        <c:crossAx val="2094734552"/>
        <c:crosses val="autoZero"/>
        <c:auto val="1"/>
        <c:lblAlgn val="ctr"/>
        <c:noMultiLvlLbl val="1"/>
      </c:catAx>
      <c:valAx>
        <c:axId val="2094734552"/>
        <c:scaling>
          <c:orientation val="minMax"/>
          <c:max val="20"/>
        </c:scaling>
        <c:delete val="0"/>
        <c:axPos val="l"/>
        <c:majorGridlines>
          <c:spPr>
            <a:ln w="6350" cap="flat">
              <a:solidFill>
                <a:srgbClr val="E6E1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7A"/>
                </a:solidFill>
                <a:latin typeface="Arial"/>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Поштовани професоре Драшковићу, поштовани чланови комисије, добар дан. Ја сам Јована Чегањац, а тема мог завршног рада је пројектовање и имплементација микросервисне апликације за планирање путовања. Апликација се зове Voyra.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Планирање путовања не завршава се избором одредишта. После тога треба изабрати лет, смештај и шта обићи, а те одлуке зависе једна од друге: каснији лет значи краћи први дан, смештај далеко од центра значи више времена у превозу, а буџет је заједнички. Најтежи део је распоред: атракције треба изабрати, распоредити по данима и поређати тако да се поштује радно време. То је варијанта проблема трговачког путника са временским прозорима, која је NP-тешка, па се решава хеуристикама.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Циљ рада је апликација која корисника води од основних параметара путовања до изабраног лета, смештаја и плана по данима, са сатницом и проценом трошка. Рад има четири доприноса: микросервисну архитектуру, интеграциони слој који апликацију одваја од екстерних сервиса, алгоритам генерисања плана и цео кориснички ток, од чувања и измене плана до резервације лета у тест режиму.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Систем има три врсте корисника. Гост може да прође цео поступак планирања. Регистровани корисник може и да сачува план, измени га и резервише лет. Администратор одобрава регистрације и уређује садржај, на пример категорије интересовања и истакнуте дестинације. Планирање је организовано као чаробњак у четири корака: параметри, лет, смештај и план.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Позадински део написан је у Node.js-у са Express-ом, клијент у Angular-у, а подаци су у MongoDB-у. Клијент комуницира само са API Gateway-ем, иза кога је осам сервиса, а сваки сервис који чува податке има своју базу. Planner Service садржи алгоритам и нема стање, Integration Service је једино место које позива екстерне сервисе, а Orchestrator води корисника кроз чаробњак и чува сесије планирања. Ако падне сервис за обавештења, планирање и даље ради. Блокиран корисник губи приступ одмах, јер Gateway проверава верзију токена.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Подаци стижу од сервиса доступних без комерцијалног уговора: Duffel за летове, LiteAPI за смештај, Geoapify за атракције, уз Википедију за описе и слике. Сваки сервис је иза адаптера који његов одговор преводи у исти интерни облик, уз заједнички кеш. То се показало важним током израде: Amadeus је угасио бесплатни приступ, а за OpenTripMap нисам добила кључ. Заменила сам изворе, а алгоритам нисам мењала. Сваки податак носи ознаку извора, а без кључева систем ради над припремљеним подацима, на чему се заснива и аутоматско тестирање.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Алгоритам има пет фаза, али се не извршавају редом којим су нумерисане. После лета најпре се рачуна колико времена има сваки дан, јер први дан почиње тек после слетања, а последњи се завршава пре повратног лета. Затим се бирају атракције, па тек онда смештај: препоручени смештај треба да стане у оно што остаје после лета и улазница, а улазнице су познате тек када су атракције изабране.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Летови и смештај рангирају се пондерисаном сумом нормализованих критеријума. Код летова тежине зависе од тога да ли корисник жели најјефтинију, најбржу или балансирану опцију, а свако преседање носи казну од 0,1. Атракција добија оцену која је седамдесет одсто поклапање са интересовањима, а тридесет одсто популарност. Бирају се похлепно, у два пролаза: прво оне које одговарају интересовањима, а тек ако их нема довољно, остале. Број атракција зависи од темпа, две, четири или шест дневно, и смањује се за краће дане.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Атракције се групишу алгоритмом k-means++, са Haversine растојањем, тако да свака група буде један дан. Пошто k-means не зна за капацитет дана, следи ребалансирање: из препуне групе премешта се атракција чије премештање најмање повећава растојање. Број група није увек број дана, већ број дана који је заиста потребан, иначе би осам атракција било развучено на пет дана. Редослед у дану почиње од смештаја: најближи сусед, па побољшање 2-opt, које се прихвата само ако скраћује пут и не гура атракцију ван радног времена. Слика приказује распоред за Атину по данима.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Посебан део рада односи се на ситуације у којима се подаци промене док корисник ради. Понуда лета важи 20 до 30 минута, а корисник се сачуваном путовању враћа после више дана, па се пре резервације исти лет тражи поново, по отиску, а ако се цена променила, корисник мора да је потврди. Двоструку резервацију спречава јединствени парцијални индекс у бази, јер провера у коду не помаже када два захтева стигну истовремено. Ако је исто путовање отворено у две картице, провера верзије не дозвољава да једна измена тихо прегази другу.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Ово је изглед чаробњака: у првом кораку корисник уноси параметре, а у четвртом добија план по данима, са трошком по ставкама и упозорењима. Интерфејс постоји на српском и енглеском и прилагођава се ширини екрана.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Сада ћу укратко показати апликацију: параметри Београд–Атина, избор лета са разлагањем оцене, смештај у оквиру буџета, генерисан план са сатницом и трошком, па измена плана и резервација лета у тест режиму.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Систем је тестиран на четири нивоа: 596 јединичних тестова сервиса, 184 теста клијентске апликације, интеграционе провере над покренутим системом, међу њима и провера 235 рута у OpenAPI документацији, и 19 Selenium сценарија који пролазе кроз апликацију као корисник. Све се покреће једном командом, над засебним тест базама. Тестови су нашли и стварне грешке; најзанимљивија је била у индексу против двоструке резервације, због које је отказивање радило само за прву резервацију у бази.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Алгоритам за 100 атракција и 14 дана у најгорем случају ради 33,6 милисекунди, око тридесет пута испод захтева од једне секунде. Цео план са попуњеним кешом добија се за мање од 150 милисекунди. Са празним кешом захтев од 10 секунди испуњен је за Атину, али не и за Рим и Париз, а готово цело време троше позиви екстерних сервиса: исти план над припремљеним подацима настаје за око једну секунду. Мерено на рачунару са процесором AMD Ryzen 7 7730U, Node.js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Резултат рада је апликација која од параметара путовања прави изводљив, просторно смислен и објашњен план, који корисник може да мења и на основу њега резервише лет. Ограничења су пре свега последица извора података: сервиси раде у тест режиму, а популарност атракција се процењује. У даљем развоју видим путовања кроз више градова, приказ плана на мапи и стварне податке о јавном превозу.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Хвала на пажњи. Радо ћу одговорити на питања.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poster.png"/><Relationship Id="rId3" Type="http://schemas.openxmlformats.org/officeDocument/2006/relationships/slideLayout" Target="../slideLayouts/slideLayout1.xml"/><Relationship Id="rId4" Type="http://schemas.openxmlformats.org/officeDocument/2006/relationships/notesSlide" Target="../notesSlides/notesSlide12.xml"/><Relationship Id="rId5" Type="http://schemas.openxmlformats.org/officeDocument/2006/relationships/video" Target="../media/media-12-1.mp4"/><Relationship Id="rId6" Type="http://schemas.microsoft.com/office/2007/relationships/media" Target="../media/media-12-1.mp4"/></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7"/>
        </a:solidFill>
      </p:bgPr>
    </p:bg>
    <p:spTree>
      <p:nvGrpSpPr>
        <p:cNvPr id="1" name=""/>
        <p:cNvGrpSpPr/>
        <p:nvPr/>
      </p:nvGrpSpPr>
      <p:grpSpPr>
        <a:xfrm>
          <a:off x="0" y="0"/>
          <a:ext cx="0" cy="0"/>
          <a:chOff x="0" y="0"/>
          <a:chExt cx="0" cy="0"/>
        </a:xfrm>
      </p:grpSpPr>
      <p:sp>
        <p:nvSpPr>
          <p:cNvPr id="2" name="Shape 0"/>
          <p:cNvSpPr/>
          <p:nvPr/>
        </p:nvSpPr>
        <p:spPr>
          <a:xfrm>
            <a:off x="7818120" y="0"/>
            <a:ext cx="4373575" cy="6858000"/>
          </a:xfrm>
          <a:prstGeom prst="rect">
            <a:avLst/>
          </a:prstGeom>
          <a:solidFill>
            <a:srgbClr val="16385E"/>
          </a:solidFill>
          <a:ln w="12700">
            <a:solidFill>
              <a:srgbClr val="16385E"/>
            </a:solidFill>
            <a:prstDash val="solid"/>
          </a:ln>
        </p:spPr>
      </p:sp>
      <p:pic>
        <p:nvPicPr>
          <p:cNvPr id="3" name="Image 0" descr="">    </p:cNvPr>
          <p:cNvPicPr>
            <a:picLocks noChangeAspect="1"/>
          </p:cNvPicPr>
          <p:nvPr/>
        </p:nvPicPr>
        <p:blipFill>
          <a:blip r:embed="rId1"/>
          <a:stretch>
            <a:fillRect/>
          </a:stretch>
        </p:blipFill>
        <p:spPr>
          <a:xfrm>
            <a:off x="8001000" y="2103120"/>
            <a:ext cx="4023360" cy="2520381"/>
          </a:xfrm>
          <a:prstGeom prst="rect">
            <a:avLst/>
          </a:prstGeom>
        </p:spPr>
      </p:pic>
      <p:pic>
        <p:nvPicPr>
          <p:cNvPr id="4" name="Image 1" descr="">    </p:cNvPr>
          <p:cNvPicPr>
            <a:picLocks noChangeAspect="1"/>
          </p:cNvPicPr>
          <p:nvPr/>
        </p:nvPicPr>
        <p:blipFill>
          <a:blip r:embed="rId2"/>
          <a:stretch>
            <a:fillRect/>
          </a:stretch>
        </p:blipFill>
        <p:spPr>
          <a:xfrm>
            <a:off x="8458200" y="1143000"/>
            <a:ext cx="3108960" cy="1161769"/>
          </a:xfrm>
          <a:prstGeom prst="rect">
            <a:avLst/>
          </a:prstGeom>
        </p:spPr>
      </p:pic>
      <p:sp>
        <p:nvSpPr>
          <p:cNvPr id="5" name="Text 1"/>
          <p:cNvSpPr txBox="1"/>
          <p:nvPr/>
        </p:nvSpPr>
        <p:spPr>
          <a:xfrm>
            <a:off x="8229600" y="5394960"/>
            <a:ext cx="3566160" cy="731520"/>
          </a:xfrm>
          <a:prstGeom prst="rect">
            <a:avLst/>
          </a:prstGeom>
          <a:noFill/>
          <a:ln/>
        </p:spPr>
        <p:txBody>
          <a:bodyPr wrap="square" lIns="0" tIns="0" rIns="0" bIns="0" rtlCol="0" anchor="ctr"/>
          <a:lstStyle/>
          <a:p>
            <a:pPr indent="0" marL="0">
              <a:buNone/>
            </a:pPr>
            <a:r>
              <a:rPr lang="en-US" sz="1600" i="1" dirty="0">
                <a:solidFill>
                  <a:srgbClr val="DCE6F2"/>
                </a:solidFill>
                <a:latin typeface="Cambria" pitchFamily="34" charset="0"/>
                <a:ea typeface="Cambria" pitchFamily="34" charset="-122"/>
                <a:cs typeface="Cambria" pitchFamily="34" charset="-120"/>
              </a:rPr>
              <a:t>Од параметара путовања</a:t>
            </a:r>
            <a:endParaRPr lang="en-US" sz="1600" dirty="0"/>
          </a:p>
          <a:p>
            <a:pPr indent="0" marL="0">
              <a:buNone/>
            </a:pPr>
            <a:r>
              <a:rPr lang="en-US" sz="1600" i="1" dirty="0">
                <a:solidFill>
                  <a:srgbClr val="DCE6F2"/>
                </a:solidFill>
                <a:latin typeface="Cambria" pitchFamily="34" charset="0"/>
                <a:ea typeface="Cambria" pitchFamily="34" charset="-122"/>
                <a:cs typeface="Cambria" pitchFamily="34" charset="-120"/>
              </a:rPr>
              <a:t>до плана по данима</a:t>
            </a:r>
            <a:endParaRPr lang="en-US" sz="1600" dirty="0"/>
          </a:p>
        </p:txBody>
      </p:sp>
      <p:pic>
        <p:nvPicPr>
          <p:cNvPr id="6" name="Image 2" descr="">    </p:cNvPr>
          <p:cNvPicPr>
            <a:picLocks noChangeAspect="1"/>
          </p:cNvPicPr>
          <p:nvPr/>
        </p:nvPicPr>
        <p:blipFill>
          <a:blip r:embed="rId3"/>
          <a:stretch>
            <a:fillRect/>
          </a:stretch>
        </p:blipFill>
        <p:spPr>
          <a:xfrm>
            <a:off x="685800" y="502920"/>
            <a:ext cx="566928" cy="629435"/>
          </a:xfrm>
          <a:prstGeom prst="rect">
            <a:avLst/>
          </a:prstGeom>
        </p:spPr>
      </p:pic>
      <p:sp>
        <p:nvSpPr>
          <p:cNvPr id="7" name="Text 2"/>
          <p:cNvSpPr txBox="1"/>
          <p:nvPr/>
        </p:nvSpPr>
        <p:spPr>
          <a:xfrm>
            <a:off x="1417320" y="566928"/>
            <a:ext cx="4572000" cy="548640"/>
          </a:xfrm>
          <a:prstGeom prst="rect">
            <a:avLst/>
          </a:prstGeom>
          <a:noFill/>
          <a:ln/>
        </p:spPr>
        <p:txBody>
          <a:bodyPr wrap="square" lIns="0" tIns="0" rIns="0" bIns="0" rtlCol="0" anchor="ctr"/>
          <a:lstStyle/>
          <a:p>
            <a:pPr indent="0" marL="0">
              <a:buNone/>
            </a:pPr>
            <a:r>
              <a:rPr lang="en-US" sz="1100" b="1" spc="200" kern="0" dirty="0">
                <a:solidFill>
                  <a:srgbClr val="16385E"/>
                </a:solidFill>
                <a:latin typeface="Calibri" pitchFamily="34" charset="0"/>
                <a:ea typeface="Calibri" pitchFamily="34" charset="-122"/>
                <a:cs typeface="Calibri" pitchFamily="34" charset="-120"/>
              </a:rPr>
              <a:t>УНИВЕРЗИТЕТ У БЕОГРАДУ</a:t>
            </a:r>
            <a:endParaRPr lang="en-US" sz="1100" dirty="0"/>
          </a:p>
          <a:p>
            <a:pPr indent="0" marL="0">
              <a:buNone/>
            </a:pPr>
            <a:r>
              <a:rPr lang="en-US" sz="1100" b="1" spc="200" kern="0" dirty="0">
                <a:solidFill>
                  <a:srgbClr val="16385E"/>
                </a:solidFill>
                <a:latin typeface="Calibri" pitchFamily="34" charset="0"/>
                <a:ea typeface="Calibri" pitchFamily="34" charset="-122"/>
                <a:cs typeface="Calibri" pitchFamily="34" charset="-120"/>
              </a:rPr>
              <a:t>ЕЛЕКТРОТЕХНИЧКИ ФАКУЛТЕТ</a:t>
            </a:r>
            <a:endParaRPr lang="en-US" sz="1100" dirty="0"/>
          </a:p>
        </p:txBody>
      </p:sp>
      <p:sp>
        <p:nvSpPr>
          <p:cNvPr id="8" name="Text 3"/>
          <p:cNvSpPr txBox="1"/>
          <p:nvPr/>
        </p:nvSpPr>
        <p:spPr>
          <a:xfrm>
            <a:off x="685800" y="1783080"/>
            <a:ext cx="6675120" cy="274320"/>
          </a:xfrm>
          <a:prstGeom prst="rect">
            <a:avLst/>
          </a:prstGeom>
          <a:noFill/>
          <a:ln/>
        </p:spPr>
        <p:txBody>
          <a:bodyPr wrap="square" lIns="0" tIns="0" rIns="0" bIns="0" rtlCol="0" anchor="t"/>
          <a:lstStyle/>
          <a:p>
            <a:pPr indent="0" marL="0">
              <a:buNone/>
            </a:pPr>
            <a:r>
              <a:rPr lang="en-US" sz="1100" b="1" spc="300" kern="0" dirty="0">
                <a:solidFill>
                  <a:srgbClr val="4F78A6"/>
                </a:solidFill>
                <a:latin typeface="Calibri" pitchFamily="34" charset="0"/>
                <a:ea typeface="Calibri" pitchFamily="34" charset="-122"/>
                <a:cs typeface="Calibri" pitchFamily="34" charset="-120"/>
              </a:rPr>
              <a:t>ЗАВРШНИ РАД ОСНОВНИХ АКАДЕМСКИХ СТУДИЈА</a:t>
            </a:r>
            <a:endParaRPr lang="en-US" sz="1100" dirty="0"/>
          </a:p>
        </p:txBody>
      </p:sp>
      <p:sp>
        <p:nvSpPr>
          <p:cNvPr id="9" name="Text 4"/>
          <p:cNvSpPr txBox="1"/>
          <p:nvPr/>
        </p:nvSpPr>
        <p:spPr>
          <a:xfrm>
            <a:off x="685800" y="2148840"/>
            <a:ext cx="6675120" cy="1828800"/>
          </a:xfrm>
          <a:prstGeom prst="rect">
            <a:avLst/>
          </a:prstGeom>
          <a:noFill/>
          <a:ln/>
        </p:spPr>
        <p:txBody>
          <a:bodyPr wrap="square" lIns="0" tIns="0" rIns="0" bIns="0" rtlCol="0" anchor="t"/>
          <a:lstStyle/>
          <a:p>
            <a:pPr indent="0" marL="0">
              <a:buNone/>
            </a:pPr>
            <a:r>
              <a:rPr lang="en-US" sz="3400" dirty="0">
                <a:solidFill>
                  <a:srgbClr val="102A45"/>
                </a:solidFill>
                <a:latin typeface="Cambria" pitchFamily="34" charset="0"/>
                <a:ea typeface="Cambria" pitchFamily="34" charset="-122"/>
                <a:cs typeface="Cambria" pitchFamily="34" charset="-120"/>
              </a:rPr>
              <a:t>Пројектовање и имплементација микросервисне апликације за планирање путовања</a:t>
            </a:r>
            <a:endParaRPr lang="en-US" sz="3400" dirty="0"/>
          </a:p>
        </p:txBody>
      </p:sp>
      <p:sp>
        <p:nvSpPr>
          <p:cNvPr id="10" name="Text 5"/>
          <p:cNvSpPr txBox="1"/>
          <p:nvPr/>
        </p:nvSpPr>
        <p:spPr>
          <a:xfrm>
            <a:off x="685800" y="4892040"/>
            <a:ext cx="3108960" cy="274320"/>
          </a:xfrm>
          <a:prstGeom prst="rect">
            <a:avLst/>
          </a:prstGeom>
          <a:noFill/>
          <a:ln/>
        </p:spPr>
        <p:txBody>
          <a:bodyPr wrap="square" lIns="0" tIns="0" rIns="0" bIns="0" rtlCol="0" anchor="t"/>
          <a:lstStyle/>
          <a:p>
            <a:pPr indent="0" marL="0">
              <a:buNone/>
            </a:pPr>
            <a:r>
              <a:rPr lang="en-US" sz="1200" dirty="0">
                <a:solidFill>
                  <a:srgbClr val="5E6B7A"/>
                </a:solidFill>
                <a:latin typeface="Calibri" pitchFamily="34" charset="0"/>
                <a:ea typeface="Calibri" pitchFamily="34" charset="-122"/>
                <a:cs typeface="Calibri" pitchFamily="34" charset="-120"/>
              </a:rPr>
              <a:t>Кандидат</a:t>
            </a:r>
            <a:endParaRPr lang="en-US" sz="1200" dirty="0"/>
          </a:p>
        </p:txBody>
      </p:sp>
      <p:sp>
        <p:nvSpPr>
          <p:cNvPr id="11" name="Text 6"/>
          <p:cNvSpPr txBox="1"/>
          <p:nvPr/>
        </p:nvSpPr>
        <p:spPr>
          <a:xfrm>
            <a:off x="685800" y="5166360"/>
            <a:ext cx="3291840" cy="320040"/>
          </a:xfrm>
          <a:prstGeom prst="rect">
            <a:avLst/>
          </a:prstGeom>
          <a:noFill/>
          <a:ln/>
        </p:spPr>
        <p:txBody>
          <a:bodyPr wrap="square" lIns="0" tIns="0" rIns="0" bIns="0" rtlCol="0" anchor="t"/>
          <a:lstStyle/>
          <a:p>
            <a:pPr indent="0" marL="0">
              <a:buNone/>
            </a:pPr>
            <a:r>
              <a:rPr lang="en-US" sz="1500" b="1" dirty="0">
                <a:solidFill>
                  <a:srgbClr val="102A45"/>
                </a:solidFill>
                <a:latin typeface="Calibri" pitchFamily="34" charset="0"/>
                <a:ea typeface="Calibri" pitchFamily="34" charset="-122"/>
                <a:cs typeface="Calibri" pitchFamily="34" charset="-120"/>
              </a:rPr>
              <a:t>Јована Чегањац, 2022/0423</a:t>
            </a:r>
            <a:endParaRPr lang="en-US" sz="1500" dirty="0"/>
          </a:p>
        </p:txBody>
      </p:sp>
      <p:sp>
        <p:nvSpPr>
          <p:cNvPr id="12" name="Text 7"/>
          <p:cNvSpPr txBox="1"/>
          <p:nvPr/>
        </p:nvSpPr>
        <p:spPr>
          <a:xfrm>
            <a:off x="4206240" y="4892040"/>
            <a:ext cx="3108960" cy="274320"/>
          </a:xfrm>
          <a:prstGeom prst="rect">
            <a:avLst/>
          </a:prstGeom>
          <a:noFill/>
          <a:ln/>
        </p:spPr>
        <p:txBody>
          <a:bodyPr wrap="square" lIns="0" tIns="0" rIns="0" bIns="0" rtlCol="0" anchor="t"/>
          <a:lstStyle/>
          <a:p>
            <a:pPr indent="0" marL="0">
              <a:buNone/>
            </a:pPr>
            <a:r>
              <a:rPr lang="en-US" sz="1200" dirty="0">
                <a:solidFill>
                  <a:srgbClr val="5E6B7A"/>
                </a:solidFill>
                <a:latin typeface="Calibri" pitchFamily="34" charset="0"/>
                <a:ea typeface="Calibri" pitchFamily="34" charset="-122"/>
                <a:cs typeface="Calibri" pitchFamily="34" charset="-120"/>
              </a:rPr>
              <a:t>Ментор</a:t>
            </a:r>
            <a:endParaRPr lang="en-US" sz="1200" dirty="0"/>
          </a:p>
        </p:txBody>
      </p:sp>
      <p:sp>
        <p:nvSpPr>
          <p:cNvPr id="13" name="Text 8"/>
          <p:cNvSpPr txBox="1"/>
          <p:nvPr/>
        </p:nvSpPr>
        <p:spPr>
          <a:xfrm>
            <a:off x="4206240" y="5166360"/>
            <a:ext cx="3474720" cy="320040"/>
          </a:xfrm>
          <a:prstGeom prst="rect">
            <a:avLst/>
          </a:prstGeom>
          <a:noFill/>
          <a:ln/>
        </p:spPr>
        <p:txBody>
          <a:bodyPr wrap="square" lIns="0" tIns="0" rIns="0" bIns="0" rtlCol="0" anchor="t"/>
          <a:lstStyle/>
          <a:p>
            <a:pPr indent="0" marL="0">
              <a:buNone/>
            </a:pPr>
            <a:r>
              <a:rPr lang="en-US" sz="1500" b="1" dirty="0">
                <a:solidFill>
                  <a:srgbClr val="102A45"/>
                </a:solidFill>
                <a:latin typeface="Calibri" pitchFamily="34" charset="0"/>
                <a:ea typeface="Calibri" pitchFamily="34" charset="-122"/>
                <a:cs typeface="Calibri" pitchFamily="34" charset="-120"/>
              </a:rPr>
              <a:t>Проф. др Дражен Драшковић</a:t>
            </a:r>
            <a:endParaRPr lang="en-US" sz="1500" dirty="0"/>
          </a:p>
        </p:txBody>
      </p:sp>
      <p:sp>
        <p:nvSpPr>
          <p:cNvPr id="14" name="Text 9"/>
          <p:cNvSpPr txBox="1"/>
          <p:nvPr/>
        </p:nvSpPr>
        <p:spPr>
          <a:xfrm>
            <a:off x="685800" y="6035040"/>
            <a:ext cx="2743200" cy="274320"/>
          </a:xfrm>
          <a:prstGeom prst="rect">
            <a:avLst/>
          </a:prstGeom>
          <a:noFill/>
          <a:ln/>
        </p:spPr>
        <p:txBody>
          <a:bodyPr wrap="square" lIns="0" tIns="0" rIns="0" bIns="0" rtlCol="0" anchor="t"/>
          <a:lstStyle/>
          <a:p>
            <a:pPr indent="0" marL="0">
              <a:buNone/>
            </a:pPr>
            <a:r>
              <a:rPr lang="en-US" sz="1200" dirty="0">
                <a:solidFill>
                  <a:srgbClr val="5E6B7A"/>
                </a:solidFill>
                <a:latin typeface="Calibri" pitchFamily="34" charset="0"/>
                <a:ea typeface="Calibri" pitchFamily="34" charset="-122"/>
                <a:cs typeface="Calibri" pitchFamily="34" charset="-120"/>
              </a:rPr>
              <a:t>Београд,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МОТИВАЦИЈА</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Зашто је планирање путовања тежак проблем</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685800" y="1783080"/>
            <a:ext cx="3429000" cy="2971800"/>
          </a:xfrm>
          <a:prstGeom prst="roundRect">
            <a:avLst>
              <a:gd name="adj" fmla="val 3692"/>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8" name="Shape 5"/>
          <p:cNvSpPr/>
          <p:nvPr/>
        </p:nvSpPr>
        <p:spPr>
          <a:xfrm>
            <a:off x="1005840" y="2103120"/>
            <a:ext cx="658368" cy="658368"/>
          </a:xfrm>
          <a:prstGeom prst="ellipse">
            <a:avLst/>
          </a:prstGeom>
          <a:solidFill>
            <a:srgbClr val="16385E"/>
          </a:solidFill>
          <a:ln w="12700">
            <a:solidFill>
              <a:srgbClr val="16385E"/>
            </a:solidFill>
            <a:prstDash val="solid"/>
          </a:ln>
        </p:spPr>
      </p:sp>
      <p:pic>
        <p:nvPicPr>
          <p:cNvPr id="9" name="Image 1" descr="preencoded.png">    </p:cNvPr>
          <p:cNvPicPr>
            <a:picLocks noChangeAspect="1"/>
          </p:cNvPicPr>
          <p:nvPr/>
        </p:nvPicPr>
        <p:blipFill>
          <a:blip r:embed="rId2"/>
          <a:stretch>
            <a:fillRect/>
          </a:stretch>
        </p:blipFill>
        <p:spPr>
          <a:xfrm>
            <a:off x="1163848" y="2261128"/>
            <a:ext cx="342351" cy="342351"/>
          </a:xfrm>
          <a:prstGeom prst="rect">
            <a:avLst/>
          </a:prstGeom>
        </p:spPr>
      </p:pic>
      <p:sp>
        <p:nvSpPr>
          <p:cNvPr id="10" name="Text 6"/>
          <p:cNvSpPr txBox="1"/>
          <p:nvPr/>
        </p:nvSpPr>
        <p:spPr>
          <a:xfrm>
            <a:off x="3246120" y="2167128"/>
            <a:ext cx="548640" cy="365760"/>
          </a:xfrm>
          <a:prstGeom prst="rect">
            <a:avLst/>
          </a:prstGeom>
          <a:noFill/>
          <a:ln/>
        </p:spPr>
        <p:txBody>
          <a:bodyPr wrap="square" lIns="0" tIns="0" rIns="0" bIns="0" rtlCol="0" anchor="t"/>
          <a:lstStyle/>
          <a:p>
            <a:pPr algn="r" indent="0" marL="0">
              <a:buNone/>
            </a:pPr>
            <a:r>
              <a:rPr lang="en-US" sz="2000" dirty="0">
                <a:solidFill>
                  <a:srgbClr val="8FB3D9"/>
                </a:solidFill>
                <a:latin typeface="Cambria" pitchFamily="34" charset="0"/>
                <a:ea typeface="Cambria" pitchFamily="34" charset="-122"/>
                <a:cs typeface="Cambria" pitchFamily="34" charset="-120"/>
              </a:rPr>
              <a:t>01</a:t>
            </a:r>
            <a:endParaRPr lang="en-US" sz="2000" dirty="0"/>
          </a:p>
        </p:txBody>
      </p:sp>
      <p:sp>
        <p:nvSpPr>
          <p:cNvPr id="11" name="Text 7"/>
          <p:cNvSpPr txBox="1"/>
          <p:nvPr/>
        </p:nvSpPr>
        <p:spPr>
          <a:xfrm>
            <a:off x="1005840" y="2971800"/>
            <a:ext cx="2788920" cy="411480"/>
          </a:xfrm>
          <a:prstGeom prst="rect">
            <a:avLst/>
          </a:prstGeom>
          <a:noFill/>
          <a:ln/>
        </p:spPr>
        <p:txBody>
          <a:bodyPr wrap="square" lIns="0" tIns="0" rIns="0" bIns="0" rtlCol="0" anchor="t"/>
          <a:lstStyle/>
          <a:p>
            <a:pPr indent="0" marL="0">
              <a:buNone/>
            </a:pPr>
            <a:r>
              <a:rPr lang="en-US" sz="2100" b="1" dirty="0">
                <a:solidFill>
                  <a:srgbClr val="102A45"/>
                </a:solidFill>
                <a:latin typeface="Cambria" pitchFamily="34" charset="0"/>
                <a:ea typeface="Cambria" pitchFamily="34" charset="-122"/>
                <a:cs typeface="Cambria" pitchFamily="34" charset="-120"/>
              </a:rPr>
              <a:t>Расути извори</a:t>
            </a:r>
            <a:endParaRPr lang="en-US" sz="2100" dirty="0"/>
          </a:p>
        </p:txBody>
      </p:sp>
      <p:sp>
        <p:nvSpPr>
          <p:cNvPr id="12" name="Text 8"/>
          <p:cNvSpPr txBox="1"/>
          <p:nvPr/>
        </p:nvSpPr>
        <p:spPr>
          <a:xfrm>
            <a:off x="1005840" y="3474720"/>
            <a:ext cx="2788920" cy="1143000"/>
          </a:xfrm>
          <a:prstGeom prst="rect">
            <a:avLst/>
          </a:prstGeom>
          <a:noFill/>
          <a:ln/>
        </p:spPr>
        <p:txBody>
          <a:bodyPr wrap="square" lIns="0" tIns="0" rIns="0" bIns="0" rtlCol="0" anchor="t"/>
          <a:lstStyle/>
          <a:p>
            <a:pPr indent="0" marL="0">
              <a:buNone/>
            </a:pPr>
            <a:r>
              <a:rPr lang="en-US" sz="1500" dirty="0">
                <a:solidFill>
                  <a:srgbClr val="5E6B7A"/>
                </a:solidFill>
                <a:latin typeface="Calibri" pitchFamily="34" charset="0"/>
                <a:ea typeface="Calibri" pitchFamily="34" charset="-122"/>
                <a:cs typeface="Calibri" pitchFamily="34" charset="-120"/>
              </a:rPr>
              <a:t>Летови, смештај и атракције траже се на различитим местима, а распоред се саставља ручно.</a:t>
            </a:r>
            <a:endParaRPr lang="en-US" sz="1500" dirty="0"/>
          </a:p>
        </p:txBody>
      </p:sp>
      <p:sp>
        <p:nvSpPr>
          <p:cNvPr id="13" name="Shape 9"/>
          <p:cNvSpPr/>
          <p:nvPr/>
        </p:nvSpPr>
        <p:spPr>
          <a:xfrm>
            <a:off x="4498848" y="1783080"/>
            <a:ext cx="3429000" cy="2971800"/>
          </a:xfrm>
          <a:prstGeom prst="roundRect">
            <a:avLst>
              <a:gd name="adj" fmla="val 3692"/>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4" name="Shape 10"/>
          <p:cNvSpPr/>
          <p:nvPr/>
        </p:nvSpPr>
        <p:spPr>
          <a:xfrm>
            <a:off x="4818888" y="2103120"/>
            <a:ext cx="658368" cy="658368"/>
          </a:xfrm>
          <a:prstGeom prst="ellipse">
            <a:avLst/>
          </a:prstGeom>
          <a:solidFill>
            <a:srgbClr val="16385E"/>
          </a:solidFill>
          <a:ln w="12700">
            <a:solidFill>
              <a:srgbClr val="16385E"/>
            </a:solidFill>
            <a:prstDash val="solid"/>
          </a:ln>
        </p:spPr>
      </p:sp>
      <p:pic>
        <p:nvPicPr>
          <p:cNvPr id="15" name="Image 2" descr="preencoded.png">    </p:cNvPr>
          <p:cNvPicPr>
            <a:picLocks noChangeAspect="1"/>
          </p:cNvPicPr>
          <p:nvPr/>
        </p:nvPicPr>
        <p:blipFill>
          <a:blip r:embed="rId3"/>
          <a:stretch>
            <a:fillRect/>
          </a:stretch>
        </p:blipFill>
        <p:spPr>
          <a:xfrm>
            <a:off x="4976896" y="2261128"/>
            <a:ext cx="342351" cy="342351"/>
          </a:xfrm>
          <a:prstGeom prst="rect">
            <a:avLst/>
          </a:prstGeom>
        </p:spPr>
      </p:pic>
      <p:sp>
        <p:nvSpPr>
          <p:cNvPr id="16" name="Text 11"/>
          <p:cNvSpPr txBox="1"/>
          <p:nvPr/>
        </p:nvSpPr>
        <p:spPr>
          <a:xfrm>
            <a:off x="7059168" y="2167128"/>
            <a:ext cx="548640" cy="365760"/>
          </a:xfrm>
          <a:prstGeom prst="rect">
            <a:avLst/>
          </a:prstGeom>
          <a:noFill/>
          <a:ln/>
        </p:spPr>
        <p:txBody>
          <a:bodyPr wrap="square" lIns="0" tIns="0" rIns="0" bIns="0" rtlCol="0" anchor="t"/>
          <a:lstStyle/>
          <a:p>
            <a:pPr algn="r" indent="0" marL="0">
              <a:buNone/>
            </a:pPr>
            <a:r>
              <a:rPr lang="en-US" sz="2000" dirty="0">
                <a:solidFill>
                  <a:srgbClr val="8FB3D9"/>
                </a:solidFill>
                <a:latin typeface="Cambria" pitchFamily="34" charset="0"/>
                <a:ea typeface="Cambria" pitchFamily="34" charset="-122"/>
                <a:cs typeface="Cambria" pitchFamily="34" charset="-120"/>
              </a:rPr>
              <a:t>02</a:t>
            </a:r>
            <a:endParaRPr lang="en-US" sz="2000" dirty="0"/>
          </a:p>
        </p:txBody>
      </p:sp>
      <p:sp>
        <p:nvSpPr>
          <p:cNvPr id="17" name="Text 12"/>
          <p:cNvSpPr txBox="1"/>
          <p:nvPr/>
        </p:nvSpPr>
        <p:spPr>
          <a:xfrm>
            <a:off x="4818888" y="2971800"/>
            <a:ext cx="2788920" cy="411480"/>
          </a:xfrm>
          <a:prstGeom prst="rect">
            <a:avLst/>
          </a:prstGeom>
          <a:noFill/>
          <a:ln/>
        </p:spPr>
        <p:txBody>
          <a:bodyPr wrap="square" lIns="0" tIns="0" rIns="0" bIns="0" rtlCol="0" anchor="t"/>
          <a:lstStyle/>
          <a:p>
            <a:pPr indent="0" marL="0">
              <a:buNone/>
            </a:pPr>
            <a:r>
              <a:rPr lang="en-US" sz="2100" b="1" dirty="0">
                <a:solidFill>
                  <a:srgbClr val="102A45"/>
                </a:solidFill>
                <a:latin typeface="Cambria" pitchFamily="34" charset="0"/>
                <a:ea typeface="Cambria" pitchFamily="34" charset="-122"/>
                <a:cs typeface="Cambria" pitchFamily="34" charset="-120"/>
              </a:rPr>
              <a:t>Зависне одлуке</a:t>
            </a:r>
            <a:endParaRPr lang="en-US" sz="2100" dirty="0"/>
          </a:p>
        </p:txBody>
      </p:sp>
      <p:sp>
        <p:nvSpPr>
          <p:cNvPr id="18" name="Text 13"/>
          <p:cNvSpPr txBox="1"/>
          <p:nvPr/>
        </p:nvSpPr>
        <p:spPr>
          <a:xfrm>
            <a:off x="4818888" y="3474720"/>
            <a:ext cx="2788920" cy="1143000"/>
          </a:xfrm>
          <a:prstGeom prst="rect">
            <a:avLst/>
          </a:prstGeom>
          <a:noFill/>
          <a:ln/>
        </p:spPr>
        <p:txBody>
          <a:bodyPr wrap="square" lIns="0" tIns="0" rIns="0" bIns="0" rtlCol="0" anchor="t"/>
          <a:lstStyle/>
          <a:p>
            <a:pPr indent="0" marL="0">
              <a:buNone/>
            </a:pPr>
            <a:r>
              <a:rPr lang="en-US" sz="1500" dirty="0">
                <a:solidFill>
                  <a:srgbClr val="5E6B7A"/>
                </a:solidFill>
                <a:latin typeface="Calibri" pitchFamily="34" charset="0"/>
                <a:ea typeface="Calibri" pitchFamily="34" charset="-122"/>
                <a:cs typeface="Calibri" pitchFamily="34" charset="-120"/>
              </a:rPr>
              <a:t>Време лета скраћује први и последњи дан, смештај мења време кретања, а буџет је заједнички.</a:t>
            </a:r>
            <a:endParaRPr lang="en-US" sz="1500" dirty="0"/>
          </a:p>
        </p:txBody>
      </p:sp>
      <p:sp>
        <p:nvSpPr>
          <p:cNvPr id="19" name="Shape 14"/>
          <p:cNvSpPr/>
          <p:nvPr/>
        </p:nvSpPr>
        <p:spPr>
          <a:xfrm>
            <a:off x="8311896" y="1783080"/>
            <a:ext cx="3429000" cy="2971800"/>
          </a:xfrm>
          <a:prstGeom prst="roundRect">
            <a:avLst>
              <a:gd name="adj" fmla="val 3692"/>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20" name="Shape 15"/>
          <p:cNvSpPr/>
          <p:nvPr/>
        </p:nvSpPr>
        <p:spPr>
          <a:xfrm>
            <a:off x="8631936" y="2103120"/>
            <a:ext cx="658368" cy="658368"/>
          </a:xfrm>
          <a:prstGeom prst="ellipse">
            <a:avLst/>
          </a:prstGeom>
          <a:solidFill>
            <a:srgbClr val="16385E"/>
          </a:solidFill>
          <a:ln w="12700">
            <a:solidFill>
              <a:srgbClr val="16385E"/>
            </a:solidFill>
            <a:prstDash val="solid"/>
          </a:ln>
        </p:spPr>
      </p:sp>
      <p:pic>
        <p:nvPicPr>
          <p:cNvPr id="21" name="Image 3" descr="preencoded.png">    </p:cNvPr>
          <p:cNvPicPr>
            <a:picLocks noChangeAspect="1"/>
          </p:cNvPicPr>
          <p:nvPr/>
        </p:nvPicPr>
        <p:blipFill>
          <a:blip r:embed="rId4"/>
          <a:stretch>
            <a:fillRect/>
          </a:stretch>
        </p:blipFill>
        <p:spPr>
          <a:xfrm>
            <a:off x="8789944" y="2261128"/>
            <a:ext cx="342351" cy="342351"/>
          </a:xfrm>
          <a:prstGeom prst="rect">
            <a:avLst/>
          </a:prstGeom>
        </p:spPr>
      </p:pic>
      <p:sp>
        <p:nvSpPr>
          <p:cNvPr id="22" name="Text 16"/>
          <p:cNvSpPr txBox="1"/>
          <p:nvPr/>
        </p:nvSpPr>
        <p:spPr>
          <a:xfrm>
            <a:off x="10872216" y="2167128"/>
            <a:ext cx="548640" cy="365760"/>
          </a:xfrm>
          <a:prstGeom prst="rect">
            <a:avLst/>
          </a:prstGeom>
          <a:noFill/>
          <a:ln/>
        </p:spPr>
        <p:txBody>
          <a:bodyPr wrap="square" lIns="0" tIns="0" rIns="0" bIns="0" rtlCol="0" anchor="t"/>
          <a:lstStyle/>
          <a:p>
            <a:pPr algn="r" indent="0" marL="0">
              <a:buNone/>
            </a:pPr>
            <a:r>
              <a:rPr lang="en-US" sz="2000" dirty="0">
                <a:solidFill>
                  <a:srgbClr val="8FB3D9"/>
                </a:solidFill>
                <a:latin typeface="Cambria" pitchFamily="34" charset="0"/>
                <a:ea typeface="Cambria" pitchFamily="34" charset="-122"/>
                <a:cs typeface="Cambria" pitchFamily="34" charset="-120"/>
              </a:rPr>
              <a:t>03</a:t>
            </a:r>
            <a:endParaRPr lang="en-US" sz="2000" dirty="0"/>
          </a:p>
        </p:txBody>
      </p:sp>
      <p:sp>
        <p:nvSpPr>
          <p:cNvPr id="23" name="Text 17"/>
          <p:cNvSpPr txBox="1"/>
          <p:nvPr/>
        </p:nvSpPr>
        <p:spPr>
          <a:xfrm>
            <a:off x="8631936" y="2971800"/>
            <a:ext cx="2788920" cy="411480"/>
          </a:xfrm>
          <a:prstGeom prst="rect">
            <a:avLst/>
          </a:prstGeom>
          <a:noFill/>
          <a:ln/>
        </p:spPr>
        <p:txBody>
          <a:bodyPr wrap="square" lIns="0" tIns="0" rIns="0" bIns="0" rtlCol="0" anchor="t"/>
          <a:lstStyle/>
          <a:p>
            <a:pPr indent="0" marL="0">
              <a:buNone/>
            </a:pPr>
            <a:r>
              <a:rPr lang="en-US" sz="2100" b="1" dirty="0">
                <a:solidFill>
                  <a:srgbClr val="102A45"/>
                </a:solidFill>
                <a:latin typeface="Cambria" pitchFamily="34" charset="0"/>
                <a:ea typeface="Cambria" pitchFamily="34" charset="-122"/>
                <a:cs typeface="Cambria" pitchFamily="34" charset="-120"/>
              </a:rPr>
              <a:t>Тежак распоред</a:t>
            </a:r>
            <a:endParaRPr lang="en-US" sz="2100" dirty="0"/>
          </a:p>
        </p:txBody>
      </p:sp>
      <p:sp>
        <p:nvSpPr>
          <p:cNvPr id="24" name="Text 18"/>
          <p:cNvSpPr txBox="1"/>
          <p:nvPr/>
        </p:nvSpPr>
        <p:spPr>
          <a:xfrm>
            <a:off x="8631936" y="3474720"/>
            <a:ext cx="2788920" cy="1143000"/>
          </a:xfrm>
          <a:prstGeom prst="rect">
            <a:avLst/>
          </a:prstGeom>
          <a:noFill/>
          <a:ln/>
        </p:spPr>
        <p:txBody>
          <a:bodyPr wrap="square" lIns="0" tIns="0" rIns="0" bIns="0" rtlCol="0" anchor="t"/>
          <a:lstStyle/>
          <a:p>
            <a:pPr indent="0" marL="0">
              <a:buNone/>
            </a:pPr>
            <a:r>
              <a:rPr lang="en-US" sz="1500" dirty="0">
                <a:solidFill>
                  <a:srgbClr val="5E6B7A"/>
                </a:solidFill>
                <a:latin typeface="Calibri" pitchFamily="34" charset="0"/>
                <a:ea typeface="Calibri" pitchFamily="34" charset="-122"/>
                <a:cs typeface="Calibri" pitchFamily="34" charset="-120"/>
              </a:rPr>
              <a:t>Избор, расподела по данима и редослед уз радно време: варијанта TSPTW, NP-тежак проблем.</a:t>
            </a:r>
            <a:endParaRPr lang="en-US" sz="1500" dirty="0"/>
          </a:p>
        </p:txBody>
      </p:sp>
      <p:sp>
        <p:nvSpPr>
          <p:cNvPr id="25" name="Shape 19"/>
          <p:cNvSpPr/>
          <p:nvPr/>
        </p:nvSpPr>
        <p:spPr>
          <a:xfrm>
            <a:off x="685800" y="5120640"/>
            <a:ext cx="10820095" cy="777240"/>
          </a:xfrm>
          <a:prstGeom prst="roundRect">
            <a:avLst>
              <a:gd name="adj" fmla="val 14118"/>
            </a:avLst>
          </a:prstGeom>
          <a:solidFill>
            <a:srgbClr val="16385E"/>
          </a:solidFill>
          <a:ln w="12700">
            <a:solidFill>
              <a:srgbClr val="16385E"/>
            </a:solidFill>
            <a:prstDash val="solid"/>
          </a:ln>
        </p:spPr>
      </p:sp>
      <p:sp>
        <p:nvSpPr>
          <p:cNvPr id="26" name="Text 20"/>
          <p:cNvSpPr txBox="1"/>
          <p:nvPr/>
        </p:nvSpPr>
        <p:spPr>
          <a:xfrm>
            <a:off x="1005840" y="5120640"/>
            <a:ext cx="10180015" cy="777240"/>
          </a:xfrm>
          <a:prstGeom prst="rect">
            <a:avLst/>
          </a:prstGeom>
          <a:noFill/>
          <a:ln/>
        </p:spPr>
        <p:txBody>
          <a:bodyPr wrap="square" lIns="0" tIns="0" rIns="0" bIns="0" rtlCol="0" anchor="ctr"/>
          <a:lstStyle/>
          <a:p>
            <a:pPr indent="0" marL="0">
              <a:buNone/>
            </a:pPr>
            <a:r>
              <a:rPr lang="en-US" sz="1700" b="1" dirty="0">
                <a:solidFill>
                  <a:srgbClr val="8FB3D9"/>
                </a:solidFill>
                <a:latin typeface="Calibri" pitchFamily="34" charset="0"/>
                <a:ea typeface="Calibri" pitchFamily="34" charset="-122"/>
                <a:cs typeface="Calibri" pitchFamily="34" charset="-120"/>
              </a:rPr>
              <a:t>Циљ:  </a:t>
            </a:r>
            <a:pPr indent="0" marL="0">
              <a:buNone/>
            </a:pPr>
            <a:r>
              <a:rPr lang="en-US" sz="1700" dirty="0">
                <a:solidFill>
                  <a:srgbClr val="FFFFFF"/>
                </a:solidFill>
                <a:latin typeface="Calibri" pitchFamily="34" charset="0"/>
                <a:ea typeface="Calibri" pitchFamily="34" charset="-122"/>
                <a:cs typeface="Calibri" pitchFamily="34" charset="-120"/>
              </a:rPr>
              <a:t>од основних параметара путовања до изводљивог, просторно смисленог плана по данима, на једном месту.</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ЦИЉ РАДА</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Четири доприноса</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685800" y="1600200"/>
            <a:ext cx="3657600" cy="2377440"/>
          </a:xfrm>
          <a:prstGeom prst="rect">
            <a:avLst/>
          </a:prstGeom>
          <a:noFill/>
          <a:ln/>
        </p:spPr>
        <p:txBody>
          <a:bodyPr wrap="square" lIns="0" tIns="0" rIns="0" bIns="0" rtlCol="0" anchor="t"/>
          <a:lstStyle/>
          <a:p>
            <a:pPr indent="0" marL="0">
              <a:buNone/>
            </a:pPr>
            <a:r>
              <a:rPr lang="en-US" sz="2000" i="1" dirty="0">
                <a:solidFill>
                  <a:srgbClr val="16385E"/>
                </a:solidFill>
                <a:latin typeface="Cambria" pitchFamily="34" charset="0"/>
                <a:ea typeface="Cambria" pitchFamily="34" charset="-122"/>
                <a:cs typeface="Cambria" pitchFamily="34" charset="-120"/>
              </a:rPr>
              <a:t>Микросервисна веб апликација која обједињује претрагу летова и смештаја, препоруку атракција, процену трошка и аутоматско генерисање дневног плана.</a:t>
            </a:r>
            <a:endParaRPr lang="en-US" sz="2000" dirty="0"/>
          </a:p>
        </p:txBody>
      </p:sp>
      <p:pic>
        <p:nvPicPr>
          <p:cNvPr id="8" name="Image 1" descr="">    </p:cNvPr>
          <p:cNvPicPr>
            <a:picLocks noChangeAspect="1"/>
          </p:cNvPicPr>
          <p:nvPr/>
        </p:nvPicPr>
        <p:blipFill>
          <a:blip r:embed="rId2"/>
          <a:stretch>
            <a:fillRect/>
          </a:stretch>
        </p:blipFill>
        <p:spPr>
          <a:xfrm>
            <a:off x="685800" y="3977640"/>
            <a:ext cx="3566160" cy="2233974"/>
          </a:xfrm>
          <a:prstGeom prst="rect">
            <a:avLst/>
          </a:prstGeom>
        </p:spPr>
      </p:pic>
      <p:sp>
        <p:nvSpPr>
          <p:cNvPr id="9" name="Shape 5"/>
          <p:cNvSpPr/>
          <p:nvPr/>
        </p:nvSpPr>
        <p:spPr>
          <a:xfrm>
            <a:off x="4846320" y="1600200"/>
            <a:ext cx="3154680" cy="2011680"/>
          </a:xfrm>
          <a:prstGeom prst="roundRect">
            <a:avLst>
              <a:gd name="adj" fmla="val 5455"/>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0" name="Shape 6"/>
          <p:cNvSpPr/>
          <p:nvPr/>
        </p:nvSpPr>
        <p:spPr>
          <a:xfrm>
            <a:off x="5120640" y="1874520"/>
            <a:ext cx="548640" cy="548640"/>
          </a:xfrm>
          <a:prstGeom prst="ellipse">
            <a:avLst/>
          </a:prstGeom>
          <a:solidFill>
            <a:srgbClr val="16385E"/>
          </a:solidFill>
          <a:ln w="12700">
            <a:solidFill>
              <a:srgbClr val="16385E"/>
            </a:solidFill>
            <a:prstDash val="solid"/>
          </a:ln>
        </p:spPr>
      </p:sp>
      <p:pic>
        <p:nvPicPr>
          <p:cNvPr id="11" name="Image 2" descr="preencoded.png">    </p:cNvPr>
          <p:cNvPicPr>
            <a:picLocks noChangeAspect="1"/>
          </p:cNvPicPr>
          <p:nvPr/>
        </p:nvPicPr>
        <p:blipFill>
          <a:blip r:embed="rId3"/>
          <a:stretch>
            <a:fillRect/>
          </a:stretch>
        </p:blipFill>
        <p:spPr>
          <a:xfrm>
            <a:off x="5252314" y="2006194"/>
            <a:ext cx="285293" cy="285293"/>
          </a:xfrm>
          <a:prstGeom prst="rect">
            <a:avLst/>
          </a:prstGeom>
        </p:spPr>
      </p:pic>
      <p:sp>
        <p:nvSpPr>
          <p:cNvPr id="12" name="Text 7"/>
          <p:cNvSpPr txBox="1"/>
          <p:nvPr/>
        </p:nvSpPr>
        <p:spPr>
          <a:xfrm>
            <a:off x="5120640" y="2514600"/>
            <a:ext cx="2697480" cy="365760"/>
          </a:xfrm>
          <a:prstGeom prst="rect">
            <a:avLst/>
          </a:prstGeom>
          <a:noFill/>
          <a:ln/>
        </p:spPr>
        <p:txBody>
          <a:bodyPr wrap="square" lIns="0" tIns="0" rIns="0" bIns="0" rtlCol="0" anchor="t"/>
          <a:lstStyle/>
          <a:p>
            <a:pPr indent="0" marL="0">
              <a:buNone/>
            </a:pPr>
            <a:r>
              <a:rPr lang="en-US" sz="1550" b="1" dirty="0">
                <a:solidFill>
                  <a:srgbClr val="102A45"/>
                </a:solidFill>
                <a:latin typeface="Calibri" pitchFamily="34" charset="0"/>
                <a:ea typeface="Calibri" pitchFamily="34" charset="-122"/>
                <a:cs typeface="Calibri" pitchFamily="34" charset="-120"/>
              </a:rPr>
              <a:t>Микросервисна архитектура</a:t>
            </a:r>
            <a:endParaRPr lang="en-US" sz="1550" dirty="0"/>
          </a:p>
        </p:txBody>
      </p:sp>
      <p:sp>
        <p:nvSpPr>
          <p:cNvPr id="13" name="Text 8"/>
          <p:cNvSpPr txBox="1"/>
          <p:nvPr/>
        </p:nvSpPr>
        <p:spPr>
          <a:xfrm>
            <a:off x="5120640" y="2898648"/>
            <a:ext cx="2606040" cy="68580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API Gateway и осам сервиса са раздвојеним одговорностима и засебним базама.</a:t>
            </a:r>
            <a:endParaRPr lang="en-US" sz="1350" dirty="0"/>
          </a:p>
        </p:txBody>
      </p:sp>
      <p:sp>
        <p:nvSpPr>
          <p:cNvPr id="14" name="Shape 9"/>
          <p:cNvSpPr/>
          <p:nvPr/>
        </p:nvSpPr>
        <p:spPr>
          <a:xfrm>
            <a:off x="8321040" y="1600200"/>
            <a:ext cx="3154680" cy="2011680"/>
          </a:xfrm>
          <a:prstGeom prst="roundRect">
            <a:avLst>
              <a:gd name="adj" fmla="val 5455"/>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5" name="Shape 10"/>
          <p:cNvSpPr/>
          <p:nvPr/>
        </p:nvSpPr>
        <p:spPr>
          <a:xfrm>
            <a:off x="8595360" y="1874520"/>
            <a:ext cx="548640" cy="548640"/>
          </a:xfrm>
          <a:prstGeom prst="ellipse">
            <a:avLst/>
          </a:prstGeom>
          <a:solidFill>
            <a:srgbClr val="16385E"/>
          </a:solidFill>
          <a:ln w="12700">
            <a:solidFill>
              <a:srgbClr val="16385E"/>
            </a:solidFill>
            <a:prstDash val="solid"/>
          </a:ln>
        </p:spPr>
      </p:sp>
      <p:pic>
        <p:nvPicPr>
          <p:cNvPr id="16" name="Image 3" descr="preencoded.png">    </p:cNvPr>
          <p:cNvPicPr>
            <a:picLocks noChangeAspect="1"/>
          </p:cNvPicPr>
          <p:nvPr/>
        </p:nvPicPr>
        <p:blipFill>
          <a:blip r:embed="rId4"/>
          <a:stretch>
            <a:fillRect/>
          </a:stretch>
        </p:blipFill>
        <p:spPr>
          <a:xfrm>
            <a:off x="8727034" y="2006194"/>
            <a:ext cx="285293" cy="285293"/>
          </a:xfrm>
          <a:prstGeom prst="rect">
            <a:avLst/>
          </a:prstGeom>
        </p:spPr>
      </p:pic>
      <p:sp>
        <p:nvSpPr>
          <p:cNvPr id="17" name="Text 11"/>
          <p:cNvSpPr txBox="1"/>
          <p:nvPr/>
        </p:nvSpPr>
        <p:spPr>
          <a:xfrm>
            <a:off x="8595360" y="2514600"/>
            <a:ext cx="2697480" cy="365760"/>
          </a:xfrm>
          <a:prstGeom prst="rect">
            <a:avLst/>
          </a:prstGeom>
          <a:noFill/>
          <a:ln/>
        </p:spPr>
        <p:txBody>
          <a:bodyPr wrap="square" lIns="0" tIns="0" rIns="0" bIns="0" rtlCol="0" anchor="t"/>
          <a:lstStyle/>
          <a:p>
            <a:pPr indent="0" marL="0">
              <a:buNone/>
            </a:pPr>
            <a:r>
              <a:rPr lang="en-US" sz="1550" b="1" dirty="0">
                <a:solidFill>
                  <a:srgbClr val="102A45"/>
                </a:solidFill>
                <a:latin typeface="Calibri" pitchFamily="34" charset="0"/>
                <a:ea typeface="Calibri" pitchFamily="34" charset="-122"/>
                <a:cs typeface="Calibri" pitchFamily="34" charset="-120"/>
              </a:rPr>
              <a:t>Интеграциони слој</a:t>
            </a:r>
            <a:endParaRPr lang="en-US" sz="1550" dirty="0"/>
          </a:p>
        </p:txBody>
      </p:sp>
      <p:sp>
        <p:nvSpPr>
          <p:cNvPr id="18" name="Text 12"/>
          <p:cNvSpPr txBox="1"/>
          <p:nvPr/>
        </p:nvSpPr>
        <p:spPr>
          <a:xfrm>
            <a:off x="8595360" y="2898648"/>
            <a:ext cx="2606040" cy="68580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Адаптери, кеш и рад без екстерних кључева одвајају систем од провајдера.</a:t>
            </a:r>
            <a:endParaRPr lang="en-US" sz="1350" dirty="0"/>
          </a:p>
        </p:txBody>
      </p:sp>
      <p:sp>
        <p:nvSpPr>
          <p:cNvPr id="19" name="Shape 13"/>
          <p:cNvSpPr/>
          <p:nvPr/>
        </p:nvSpPr>
        <p:spPr>
          <a:xfrm>
            <a:off x="4846320" y="3931920"/>
            <a:ext cx="3154680" cy="2011680"/>
          </a:xfrm>
          <a:prstGeom prst="roundRect">
            <a:avLst>
              <a:gd name="adj" fmla="val 5455"/>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20" name="Shape 14"/>
          <p:cNvSpPr/>
          <p:nvPr/>
        </p:nvSpPr>
        <p:spPr>
          <a:xfrm>
            <a:off x="5120640" y="4206240"/>
            <a:ext cx="548640" cy="548640"/>
          </a:xfrm>
          <a:prstGeom prst="ellipse">
            <a:avLst/>
          </a:prstGeom>
          <a:solidFill>
            <a:srgbClr val="16385E"/>
          </a:solidFill>
          <a:ln w="12700">
            <a:solidFill>
              <a:srgbClr val="16385E"/>
            </a:solidFill>
            <a:prstDash val="solid"/>
          </a:ln>
        </p:spPr>
      </p:sp>
      <p:pic>
        <p:nvPicPr>
          <p:cNvPr id="21" name="Image 4" descr="preencoded.png">    </p:cNvPr>
          <p:cNvPicPr>
            <a:picLocks noChangeAspect="1"/>
          </p:cNvPicPr>
          <p:nvPr/>
        </p:nvPicPr>
        <p:blipFill>
          <a:blip r:embed="rId5"/>
          <a:stretch>
            <a:fillRect/>
          </a:stretch>
        </p:blipFill>
        <p:spPr>
          <a:xfrm>
            <a:off x="5252314" y="4337914"/>
            <a:ext cx="285293" cy="285293"/>
          </a:xfrm>
          <a:prstGeom prst="rect">
            <a:avLst/>
          </a:prstGeom>
        </p:spPr>
      </p:pic>
      <p:sp>
        <p:nvSpPr>
          <p:cNvPr id="22" name="Text 15"/>
          <p:cNvSpPr txBox="1"/>
          <p:nvPr/>
        </p:nvSpPr>
        <p:spPr>
          <a:xfrm>
            <a:off x="5120640" y="4846320"/>
            <a:ext cx="2697480" cy="365760"/>
          </a:xfrm>
          <a:prstGeom prst="rect">
            <a:avLst/>
          </a:prstGeom>
          <a:noFill/>
          <a:ln/>
        </p:spPr>
        <p:txBody>
          <a:bodyPr wrap="square" lIns="0" tIns="0" rIns="0" bIns="0" rtlCol="0" anchor="t"/>
          <a:lstStyle/>
          <a:p>
            <a:pPr indent="0" marL="0">
              <a:buNone/>
            </a:pPr>
            <a:r>
              <a:rPr lang="en-US" sz="1550" b="1" dirty="0">
                <a:solidFill>
                  <a:srgbClr val="102A45"/>
                </a:solidFill>
                <a:latin typeface="Calibri" pitchFamily="34" charset="0"/>
                <a:ea typeface="Calibri" pitchFamily="34" charset="-122"/>
                <a:cs typeface="Calibri" pitchFamily="34" charset="-120"/>
              </a:rPr>
              <a:t>Алгоритам планирања</a:t>
            </a:r>
            <a:endParaRPr lang="en-US" sz="1550" dirty="0"/>
          </a:p>
        </p:txBody>
      </p:sp>
      <p:sp>
        <p:nvSpPr>
          <p:cNvPr id="23" name="Text 16"/>
          <p:cNvSpPr txBox="1"/>
          <p:nvPr/>
        </p:nvSpPr>
        <p:spPr>
          <a:xfrm>
            <a:off x="5120640" y="5230368"/>
            <a:ext cx="2606040" cy="68580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Рангирање понуда, избор атракција, кластеровање по данима и 2-opt.</a:t>
            </a:r>
            <a:endParaRPr lang="en-US" sz="1350" dirty="0"/>
          </a:p>
        </p:txBody>
      </p:sp>
      <p:sp>
        <p:nvSpPr>
          <p:cNvPr id="24" name="Shape 17"/>
          <p:cNvSpPr/>
          <p:nvPr/>
        </p:nvSpPr>
        <p:spPr>
          <a:xfrm>
            <a:off x="8321040" y="3931920"/>
            <a:ext cx="3154680" cy="2011680"/>
          </a:xfrm>
          <a:prstGeom prst="roundRect">
            <a:avLst>
              <a:gd name="adj" fmla="val 5455"/>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25" name="Shape 18"/>
          <p:cNvSpPr/>
          <p:nvPr/>
        </p:nvSpPr>
        <p:spPr>
          <a:xfrm>
            <a:off x="8595360" y="4206240"/>
            <a:ext cx="548640" cy="548640"/>
          </a:xfrm>
          <a:prstGeom prst="ellipse">
            <a:avLst/>
          </a:prstGeom>
          <a:solidFill>
            <a:srgbClr val="16385E"/>
          </a:solidFill>
          <a:ln w="12700">
            <a:solidFill>
              <a:srgbClr val="16385E"/>
            </a:solidFill>
            <a:prstDash val="solid"/>
          </a:ln>
        </p:spPr>
      </p:sp>
      <p:pic>
        <p:nvPicPr>
          <p:cNvPr id="26" name="Image 5" descr="preencoded.png">    </p:cNvPr>
          <p:cNvPicPr>
            <a:picLocks noChangeAspect="1"/>
          </p:cNvPicPr>
          <p:nvPr/>
        </p:nvPicPr>
        <p:blipFill>
          <a:blip r:embed="rId6"/>
          <a:stretch>
            <a:fillRect/>
          </a:stretch>
        </p:blipFill>
        <p:spPr>
          <a:xfrm>
            <a:off x="8727034" y="4337914"/>
            <a:ext cx="285293" cy="285293"/>
          </a:xfrm>
          <a:prstGeom prst="rect">
            <a:avLst/>
          </a:prstGeom>
        </p:spPr>
      </p:pic>
      <p:sp>
        <p:nvSpPr>
          <p:cNvPr id="27" name="Text 19"/>
          <p:cNvSpPr txBox="1"/>
          <p:nvPr/>
        </p:nvSpPr>
        <p:spPr>
          <a:xfrm>
            <a:off x="8595360" y="4846320"/>
            <a:ext cx="2697480" cy="365760"/>
          </a:xfrm>
          <a:prstGeom prst="rect">
            <a:avLst/>
          </a:prstGeom>
          <a:noFill/>
          <a:ln/>
        </p:spPr>
        <p:txBody>
          <a:bodyPr wrap="square" lIns="0" tIns="0" rIns="0" bIns="0" rtlCol="0" anchor="t"/>
          <a:lstStyle/>
          <a:p>
            <a:pPr indent="0" marL="0">
              <a:buNone/>
            </a:pPr>
            <a:r>
              <a:rPr lang="en-US" sz="1550" b="1" dirty="0">
                <a:solidFill>
                  <a:srgbClr val="102A45"/>
                </a:solidFill>
                <a:latin typeface="Calibri" pitchFamily="34" charset="0"/>
                <a:ea typeface="Calibri" pitchFamily="34" charset="-122"/>
                <a:cs typeface="Calibri" pitchFamily="34" charset="-120"/>
              </a:rPr>
              <a:t>Кориснички ток</a:t>
            </a:r>
            <a:endParaRPr lang="en-US" sz="1550" dirty="0"/>
          </a:p>
        </p:txBody>
      </p:sp>
      <p:sp>
        <p:nvSpPr>
          <p:cNvPr id="28" name="Text 20"/>
          <p:cNvSpPr txBox="1"/>
          <p:nvPr/>
        </p:nvSpPr>
        <p:spPr>
          <a:xfrm>
            <a:off x="8595360" y="5230368"/>
            <a:ext cx="2606040" cy="68580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Чување, измена и праћење путовања, резервација и отказивање лета у тест режиму.</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КОРИСНИЦИ</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Улоге и ток кроз апликацију</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685800" y="1600200"/>
            <a:ext cx="3429000" cy="2514600"/>
          </a:xfrm>
          <a:prstGeom prst="roundRect">
            <a:avLst>
              <a:gd name="adj" fmla="val 4364"/>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8" name="Shape 5"/>
          <p:cNvSpPr/>
          <p:nvPr/>
        </p:nvSpPr>
        <p:spPr>
          <a:xfrm>
            <a:off x="960120" y="1874520"/>
            <a:ext cx="548640" cy="548640"/>
          </a:xfrm>
          <a:prstGeom prst="ellipse">
            <a:avLst/>
          </a:prstGeom>
          <a:solidFill>
            <a:srgbClr val="16385E"/>
          </a:solidFill>
          <a:ln w="12700">
            <a:solidFill>
              <a:srgbClr val="16385E"/>
            </a:solidFill>
            <a:prstDash val="solid"/>
          </a:ln>
        </p:spPr>
      </p:sp>
      <p:pic>
        <p:nvPicPr>
          <p:cNvPr id="9" name="Image 1" descr="preencoded.png">    </p:cNvPr>
          <p:cNvPicPr>
            <a:picLocks noChangeAspect="1"/>
          </p:cNvPicPr>
          <p:nvPr/>
        </p:nvPicPr>
        <p:blipFill>
          <a:blip r:embed="rId2"/>
          <a:stretch>
            <a:fillRect/>
          </a:stretch>
        </p:blipFill>
        <p:spPr>
          <a:xfrm>
            <a:off x="1091794" y="2006194"/>
            <a:ext cx="285293" cy="285293"/>
          </a:xfrm>
          <a:prstGeom prst="rect">
            <a:avLst/>
          </a:prstGeom>
        </p:spPr>
      </p:pic>
      <p:sp>
        <p:nvSpPr>
          <p:cNvPr id="10" name="Text 6"/>
          <p:cNvSpPr txBox="1"/>
          <p:nvPr/>
        </p:nvSpPr>
        <p:spPr>
          <a:xfrm>
            <a:off x="1645920" y="1874520"/>
            <a:ext cx="2240280" cy="548640"/>
          </a:xfrm>
          <a:prstGeom prst="rect">
            <a:avLst/>
          </a:prstGeom>
          <a:noFill/>
          <a:ln/>
        </p:spPr>
        <p:txBody>
          <a:bodyPr wrap="square" lIns="0" tIns="0" rIns="0" bIns="0" rtlCol="0" anchor="ctr"/>
          <a:lstStyle/>
          <a:p>
            <a:pPr indent="0" marL="0">
              <a:buNone/>
            </a:pPr>
            <a:r>
              <a:rPr lang="en-US" sz="1800" b="1" dirty="0">
                <a:solidFill>
                  <a:srgbClr val="102A45"/>
                </a:solidFill>
                <a:latin typeface="Calibri" pitchFamily="34" charset="0"/>
                <a:ea typeface="Calibri" pitchFamily="34" charset="-122"/>
                <a:cs typeface="Calibri" pitchFamily="34" charset="-120"/>
              </a:rPr>
              <a:t>Гост</a:t>
            </a:r>
            <a:endParaRPr lang="en-US" sz="1800" dirty="0"/>
          </a:p>
        </p:txBody>
      </p:sp>
      <p:sp>
        <p:nvSpPr>
          <p:cNvPr id="11" name="Text 7"/>
          <p:cNvSpPr txBox="1"/>
          <p:nvPr/>
        </p:nvSpPr>
        <p:spPr>
          <a:xfrm>
            <a:off x="960120" y="2651760"/>
            <a:ext cx="2880360" cy="12801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5E6B7A"/>
                </a:solidFill>
                <a:latin typeface="Calibri" pitchFamily="34" charset="0"/>
                <a:ea typeface="Calibri" pitchFamily="34" charset="-122"/>
                <a:cs typeface="Calibri" pitchFamily="34" charset="-120"/>
              </a:rPr>
              <a:t>пролази кроз цео чаробњак</a:t>
            </a:r>
            <a:endParaRPr lang="en-US" sz="1450" dirty="0"/>
          </a:p>
          <a:p>
            <a:pPr marL="342900" indent="-342900">
              <a:spcAft>
                <a:spcPts val="600"/>
              </a:spcAft>
              <a:buSzPct val="100000"/>
              <a:buChar char="•"/>
            </a:pPr>
            <a:r>
              <a:rPr lang="en-US" sz="1450" dirty="0">
                <a:solidFill>
                  <a:srgbClr val="5E6B7A"/>
                </a:solidFill>
                <a:latin typeface="Calibri" pitchFamily="34" charset="0"/>
                <a:ea typeface="Calibri" pitchFamily="34" charset="-122"/>
                <a:cs typeface="Calibri" pitchFamily="34" charset="-120"/>
              </a:rPr>
              <a:t>добија генерисан план</a:t>
            </a:r>
            <a:endParaRPr lang="en-US" sz="1450" dirty="0"/>
          </a:p>
          <a:p>
            <a:pPr marL="342900" indent="-342900">
              <a:spcAft>
                <a:spcPts val="600"/>
              </a:spcAft>
              <a:buSzPct val="100000"/>
              <a:buChar char="•"/>
            </a:pPr>
            <a:r>
              <a:rPr lang="en-US" sz="1450" dirty="0">
                <a:solidFill>
                  <a:srgbClr val="5E6B7A"/>
                </a:solidFill>
                <a:latin typeface="Calibri" pitchFamily="34" charset="0"/>
                <a:ea typeface="Calibri" pitchFamily="34" charset="-122"/>
                <a:cs typeface="Calibri" pitchFamily="34" charset="-120"/>
              </a:rPr>
              <a:t>прегледа атракције</a:t>
            </a:r>
            <a:endParaRPr lang="en-US" sz="1450" dirty="0"/>
          </a:p>
        </p:txBody>
      </p:sp>
      <p:sp>
        <p:nvSpPr>
          <p:cNvPr id="12" name="Shape 8"/>
          <p:cNvSpPr/>
          <p:nvPr/>
        </p:nvSpPr>
        <p:spPr>
          <a:xfrm>
            <a:off x="4498848" y="1600200"/>
            <a:ext cx="3429000" cy="2514600"/>
          </a:xfrm>
          <a:prstGeom prst="roundRect">
            <a:avLst>
              <a:gd name="adj" fmla="val 4364"/>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3" name="Shape 9"/>
          <p:cNvSpPr/>
          <p:nvPr/>
        </p:nvSpPr>
        <p:spPr>
          <a:xfrm>
            <a:off x="4773168" y="1874520"/>
            <a:ext cx="548640" cy="548640"/>
          </a:xfrm>
          <a:prstGeom prst="ellipse">
            <a:avLst/>
          </a:prstGeom>
          <a:solidFill>
            <a:srgbClr val="16385E"/>
          </a:solidFill>
          <a:ln w="12700">
            <a:solidFill>
              <a:srgbClr val="16385E"/>
            </a:solidFill>
            <a:prstDash val="solid"/>
          </a:ln>
        </p:spPr>
      </p:sp>
      <p:pic>
        <p:nvPicPr>
          <p:cNvPr id="14" name="Image 2" descr="preencoded.png">    </p:cNvPr>
          <p:cNvPicPr>
            <a:picLocks noChangeAspect="1"/>
          </p:cNvPicPr>
          <p:nvPr/>
        </p:nvPicPr>
        <p:blipFill>
          <a:blip r:embed="rId3"/>
          <a:stretch>
            <a:fillRect/>
          </a:stretch>
        </p:blipFill>
        <p:spPr>
          <a:xfrm>
            <a:off x="4904842" y="2006194"/>
            <a:ext cx="285293" cy="285293"/>
          </a:xfrm>
          <a:prstGeom prst="rect">
            <a:avLst/>
          </a:prstGeom>
        </p:spPr>
      </p:pic>
      <p:sp>
        <p:nvSpPr>
          <p:cNvPr id="15" name="Text 10"/>
          <p:cNvSpPr txBox="1"/>
          <p:nvPr/>
        </p:nvSpPr>
        <p:spPr>
          <a:xfrm>
            <a:off x="5458968" y="1874520"/>
            <a:ext cx="2240280" cy="548640"/>
          </a:xfrm>
          <a:prstGeom prst="rect">
            <a:avLst/>
          </a:prstGeom>
          <a:noFill/>
          <a:ln/>
        </p:spPr>
        <p:txBody>
          <a:bodyPr wrap="square" lIns="0" tIns="0" rIns="0" bIns="0" rtlCol="0" anchor="ctr"/>
          <a:lstStyle/>
          <a:p>
            <a:pPr indent="0" marL="0">
              <a:buNone/>
            </a:pPr>
            <a:r>
              <a:rPr lang="en-US" sz="1800" b="1" dirty="0">
                <a:solidFill>
                  <a:srgbClr val="102A45"/>
                </a:solidFill>
                <a:latin typeface="Calibri" pitchFamily="34" charset="0"/>
                <a:ea typeface="Calibri" pitchFamily="34" charset="-122"/>
                <a:cs typeface="Calibri" pitchFamily="34" charset="-120"/>
              </a:rPr>
              <a:t>Регистровани корисник</a:t>
            </a:r>
            <a:endParaRPr lang="en-US" sz="1800" dirty="0"/>
          </a:p>
        </p:txBody>
      </p:sp>
      <p:sp>
        <p:nvSpPr>
          <p:cNvPr id="16" name="Text 11"/>
          <p:cNvSpPr txBox="1"/>
          <p:nvPr/>
        </p:nvSpPr>
        <p:spPr>
          <a:xfrm>
            <a:off x="4773168" y="2651760"/>
            <a:ext cx="2880360" cy="12801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5E6B7A"/>
                </a:solidFill>
                <a:latin typeface="Calibri" pitchFamily="34" charset="0"/>
                <a:ea typeface="Calibri" pitchFamily="34" charset="-122"/>
                <a:cs typeface="Calibri" pitchFamily="34" charset="-120"/>
              </a:rPr>
              <a:t>чува и мења план</a:t>
            </a:r>
            <a:endParaRPr lang="en-US" sz="1450" dirty="0"/>
          </a:p>
          <a:p>
            <a:pPr marL="342900" indent="-342900">
              <a:spcAft>
                <a:spcPts val="600"/>
              </a:spcAft>
              <a:buSzPct val="100000"/>
              <a:buChar char="•"/>
            </a:pPr>
            <a:r>
              <a:rPr lang="en-US" sz="1450" dirty="0">
                <a:solidFill>
                  <a:srgbClr val="5E6B7A"/>
                </a:solidFill>
                <a:latin typeface="Calibri" pitchFamily="34" charset="0"/>
                <a:ea typeface="Calibri" pitchFamily="34" charset="-122"/>
                <a:cs typeface="Calibri" pitchFamily="34" charset="-120"/>
              </a:rPr>
              <a:t>резервише и отказује лет</a:t>
            </a:r>
            <a:endParaRPr lang="en-US" sz="1450" dirty="0"/>
          </a:p>
          <a:p>
            <a:pPr marL="342900" indent="-342900">
              <a:spcAft>
                <a:spcPts val="600"/>
              </a:spcAft>
              <a:buSzPct val="100000"/>
              <a:buChar char="•"/>
            </a:pPr>
            <a:r>
              <a:rPr lang="en-US" sz="1450" dirty="0">
                <a:solidFill>
                  <a:srgbClr val="5E6B7A"/>
                </a:solidFill>
                <a:latin typeface="Calibri" pitchFamily="34" charset="0"/>
                <a:ea typeface="Calibri" pitchFamily="34" charset="-122"/>
                <a:cs typeface="Calibri" pitchFamily="34" charset="-120"/>
              </a:rPr>
              <a:t>мења профил и лозинку</a:t>
            </a:r>
            <a:endParaRPr lang="en-US" sz="1450" dirty="0"/>
          </a:p>
        </p:txBody>
      </p:sp>
      <p:sp>
        <p:nvSpPr>
          <p:cNvPr id="17" name="Shape 12"/>
          <p:cNvSpPr/>
          <p:nvPr/>
        </p:nvSpPr>
        <p:spPr>
          <a:xfrm>
            <a:off x="8311896" y="1600200"/>
            <a:ext cx="3429000" cy="2514600"/>
          </a:xfrm>
          <a:prstGeom prst="roundRect">
            <a:avLst>
              <a:gd name="adj" fmla="val 4364"/>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8" name="Shape 13"/>
          <p:cNvSpPr/>
          <p:nvPr/>
        </p:nvSpPr>
        <p:spPr>
          <a:xfrm>
            <a:off x="8586216" y="1874520"/>
            <a:ext cx="548640" cy="548640"/>
          </a:xfrm>
          <a:prstGeom prst="ellipse">
            <a:avLst/>
          </a:prstGeom>
          <a:solidFill>
            <a:srgbClr val="16385E"/>
          </a:solidFill>
          <a:ln w="12700">
            <a:solidFill>
              <a:srgbClr val="16385E"/>
            </a:solidFill>
            <a:prstDash val="solid"/>
          </a:ln>
        </p:spPr>
      </p:sp>
      <p:pic>
        <p:nvPicPr>
          <p:cNvPr id="19" name="Image 3" descr="preencoded.png">    </p:cNvPr>
          <p:cNvPicPr>
            <a:picLocks noChangeAspect="1"/>
          </p:cNvPicPr>
          <p:nvPr/>
        </p:nvPicPr>
        <p:blipFill>
          <a:blip r:embed="rId4"/>
          <a:stretch>
            <a:fillRect/>
          </a:stretch>
        </p:blipFill>
        <p:spPr>
          <a:xfrm>
            <a:off x="8717890" y="2006194"/>
            <a:ext cx="285293" cy="285293"/>
          </a:xfrm>
          <a:prstGeom prst="rect">
            <a:avLst/>
          </a:prstGeom>
        </p:spPr>
      </p:pic>
      <p:sp>
        <p:nvSpPr>
          <p:cNvPr id="20" name="Text 14"/>
          <p:cNvSpPr txBox="1"/>
          <p:nvPr/>
        </p:nvSpPr>
        <p:spPr>
          <a:xfrm>
            <a:off x="9272016" y="1874520"/>
            <a:ext cx="2240280" cy="548640"/>
          </a:xfrm>
          <a:prstGeom prst="rect">
            <a:avLst/>
          </a:prstGeom>
          <a:noFill/>
          <a:ln/>
        </p:spPr>
        <p:txBody>
          <a:bodyPr wrap="square" lIns="0" tIns="0" rIns="0" bIns="0" rtlCol="0" anchor="ctr"/>
          <a:lstStyle/>
          <a:p>
            <a:pPr indent="0" marL="0">
              <a:buNone/>
            </a:pPr>
            <a:r>
              <a:rPr lang="en-US" sz="1800" b="1" dirty="0">
                <a:solidFill>
                  <a:srgbClr val="102A45"/>
                </a:solidFill>
                <a:latin typeface="Calibri" pitchFamily="34" charset="0"/>
                <a:ea typeface="Calibri" pitchFamily="34" charset="-122"/>
                <a:cs typeface="Calibri" pitchFamily="34" charset="-120"/>
              </a:rPr>
              <a:t>Администратор</a:t>
            </a:r>
            <a:endParaRPr lang="en-US" sz="1800" dirty="0"/>
          </a:p>
        </p:txBody>
      </p:sp>
      <p:sp>
        <p:nvSpPr>
          <p:cNvPr id="21" name="Text 15"/>
          <p:cNvSpPr txBox="1"/>
          <p:nvPr/>
        </p:nvSpPr>
        <p:spPr>
          <a:xfrm>
            <a:off x="8586216" y="2651760"/>
            <a:ext cx="2880360" cy="12801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5E6B7A"/>
                </a:solidFill>
                <a:latin typeface="Calibri" pitchFamily="34" charset="0"/>
                <a:ea typeface="Calibri" pitchFamily="34" charset="-122"/>
                <a:cs typeface="Calibri" pitchFamily="34" charset="-120"/>
              </a:rPr>
              <a:t>одобрава регистрације</a:t>
            </a:r>
            <a:endParaRPr lang="en-US" sz="1450" dirty="0"/>
          </a:p>
          <a:p>
            <a:pPr marL="342900" indent="-342900">
              <a:spcAft>
                <a:spcPts val="600"/>
              </a:spcAft>
              <a:buSzPct val="100000"/>
              <a:buChar char="•"/>
            </a:pPr>
            <a:r>
              <a:rPr lang="en-US" sz="1450" dirty="0">
                <a:solidFill>
                  <a:srgbClr val="5E6B7A"/>
                </a:solidFill>
                <a:latin typeface="Calibri" pitchFamily="34" charset="0"/>
                <a:ea typeface="Calibri" pitchFamily="34" charset="-122"/>
                <a:cs typeface="Calibri" pitchFamily="34" charset="-120"/>
              </a:rPr>
              <a:t>управља налозима</a:t>
            </a:r>
            <a:endParaRPr lang="en-US" sz="1450" dirty="0"/>
          </a:p>
          <a:p>
            <a:pPr marL="342900" indent="-342900">
              <a:spcAft>
                <a:spcPts val="600"/>
              </a:spcAft>
              <a:buSzPct val="100000"/>
              <a:buChar char="•"/>
            </a:pPr>
            <a:r>
              <a:rPr lang="en-US" sz="1450" dirty="0">
                <a:solidFill>
                  <a:srgbClr val="5E6B7A"/>
                </a:solidFill>
                <a:latin typeface="Calibri" pitchFamily="34" charset="0"/>
                <a:ea typeface="Calibri" pitchFamily="34" charset="-122"/>
                <a:cs typeface="Calibri" pitchFamily="34" charset="-120"/>
              </a:rPr>
              <a:t>уређује дестинације и категорије</a:t>
            </a:r>
            <a:endParaRPr lang="en-US" sz="1450" dirty="0"/>
          </a:p>
        </p:txBody>
      </p:sp>
      <p:sp>
        <p:nvSpPr>
          <p:cNvPr id="22" name="Text 16"/>
          <p:cNvSpPr txBox="1"/>
          <p:nvPr/>
        </p:nvSpPr>
        <p:spPr>
          <a:xfrm>
            <a:off x="685800" y="4434840"/>
            <a:ext cx="5486400" cy="320040"/>
          </a:xfrm>
          <a:prstGeom prst="rect">
            <a:avLst/>
          </a:prstGeom>
          <a:noFill/>
          <a:ln/>
        </p:spPr>
        <p:txBody>
          <a:bodyPr wrap="square" lIns="0" tIns="0" rIns="0" bIns="0" rtlCol="0" anchor="t"/>
          <a:lstStyle/>
          <a:p>
            <a:pPr indent="0" marL="0">
              <a:buNone/>
            </a:pPr>
            <a:r>
              <a:rPr lang="en-US" sz="1400" b="1" dirty="0">
                <a:solidFill>
                  <a:srgbClr val="16385E"/>
                </a:solidFill>
                <a:latin typeface="Calibri" pitchFamily="34" charset="0"/>
                <a:ea typeface="Calibri" pitchFamily="34" charset="-122"/>
                <a:cs typeface="Calibri" pitchFamily="34" charset="-120"/>
              </a:rPr>
              <a:t>Чаробњак у четири корака</a:t>
            </a:r>
            <a:endParaRPr lang="en-US" sz="1400" dirty="0"/>
          </a:p>
        </p:txBody>
      </p:sp>
      <p:sp>
        <p:nvSpPr>
          <p:cNvPr id="23" name="Shape 17"/>
          <p:cNvSpPr/>
          <p:nvPr/>
        </p:nvSpPr>
        <p:spPr>
          <a:xfrm>
            <a:off x="685800" y="4892040"/>
            <a:ext cx="2331720" cy="777240"/>
          </a:xfrm>
          <a:prstGeom prst="roundRect">
            <a:avLst>
              <a:gd name="adj" fmla="val 49412"/>
            </a:avLst>
          </a:prstGeom>
          <a:solidFill>
            <a:srgbClr val="EEF3F9"/>
          </a:solidFill>
          <a:ln w="12700">
            <a:solidFill>
              <a:srgbClr val="D3DEEB"/>
            </a:solidFill>
            <a:prstDash val="solid"/>
          </a:ln>
        </p:spPr>
      </p:sp>
      <p:sp>
        <p:nvSpPr>
          <p:cNvPr id="24" name="Shape 18"/>
          <p:cNvSpPr/>
          <p:nvPr/>
        </p:nvSpPr>
        <p:spPr>
          <a:xfrm>
            <a:off x="841248" y="5029200"/>
            <a:ext cx="502920" cy="502920"/>
          </a:xfrm>
          <a:prstGeom prst="ellipse">
            <a:avLst/>
          </a:prstGeom>
          <a:solidFill>
            <a:srgbClr val="16385E"/>
          </a:solidFill>
          <a:ln w="12700">
            <a:solidFill>
              <a:srgbClr val="16385E"/>
            </a:solidFill>
            <a:prstDash val="solid"/>
          </a:ln>
        </p:spPr>
      </p:sp>
      <p:sp>
        <p:nvSpPr>
          <p:cNvPr id="25" name="Text 19"/>
          <p:cNvSpPr txBox="1"/>
          <p:nvPr/>
        </p:nvSpPr>
        <p:spPr>
          <a:xfrm>
            <a:off x="841248" y="50292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6" name="Text 20"/>
          <p:cNvSpPr txBox="1"/>
          <p:nvPr/>
        </p:nvSpPr>
        <p:spPr>
          <a:xfrm>
            <a:off x="1463040" y="4892040"/>
            <a:ext cx="1463040" cy="777240"/>
          </a:xfrm>
          <a:prstGeom prst="rect">
            <a:avLst/>
          </a:prstGeom>
          <a:noFill/>
          <a:ln/>
        </p:spPr>
        <p:txBody>
          <a:bodyPr wrap="square" lIns="0" tIns="0" rIns="0" bIns="0" rtlCol="0" anchor="ctr"/>
          <a:lstStyle/>
          <a:p>
            <a:pPr indent="0" marL="0">
              <a:buNone/>
            </a:pPr>
            <a:r>
              <a:rPr lang="en-US" sz="1500" b="1" dirty="0">
                <a:solidFill>
                  <a:srgbClr val="102A45"/>
                </a:solidFill>
                <a:latin typeface="Calibri" pitchFamily="34" charset="0"/>
                <a:ea typeface="Calibri" pitchFamily="34" charset="-122"/>
                <a:cs typeface="Calibri" pitchFamily="34" charset="-120"/>
              </a:rPr>
              <a:t>Параметри</a:t>
            </a:r>
            <a:endParaRPr lang="en-US" sz="1500" dirty="0"/>
          </a:p>
        </p:txBody>
      </p:sp>
      <p:pic>
        <p:nvPicPr>
          <p:cNvPr id="27" name="Image 4" descr="preencoded.png">    </p:cNvPr>
          <p:cNvPicPr>
            <a:picLocks noChangeAspect="1"/>
          </p:cNvPicPr>
          <p:nvPr/>
        </p:nvPicPr>
        <p:blipFill>
          <a:blip r:embed="rId5"/>
          <a:stretch>
            <a:fillRect/>
          </a:stretch>
        </p:blipFill>
        <p:spPr>
          <a:xfrm>
            <a:off x="3145536" y="5120640"/>
            <a:ext cx="310896" cy="310896"/>
          </a:xfrm>
          <a:prstGeom prst="rect">
            <a:avLst/>
          </a:prstGeom>
        </p:spPr>
      </p:pic>
      <p:sp>
        <p:nvSpPr>
          <p:cNvPr id="28" name="Shape 21"/>
          <p:cNvSpPr/>
          <p:nvPr/>
        </p:nvSpPr>
        <p:spPr>
          <a:xfrm>
            <a:off x="3584448" y="4892040"/>
            <a:ext cx="2331720" cy="777240"/>
          </a:xfrm>
          <a:prstGeom prst="roundRect">
            <a:avLst>
              <a:gd name="adj" fmla="val 49412"/>
            </a:avLst>
          </a:prstGeom>
          <a:solidFill>
            <a:srgbClr val="EEF3F9"/>
          </a:solidFill>
          <a:ln w="12700">
            <a:solidFill>
              <a:srgbClr val="D3DEEB"/>
            </a:solidFill>
            <a:prstDash val="solid"/>
          </a:ln>
        </p:spPr>
      </p:sp>
      <p:sp>
        <p:nvSpPr>
          <p:cNvPr id="29" name="Shape 22"/>
          <p:cNvSpPr/>
          <p:nvPr/>
        </p:nvSpPr>
        <p:spPr>
          <a:xfrm>
            <a:off x="3739896" y="5029200"/>
            <a:ext cx="502920" cy="502920"/>
          </a:xfrm>
          <a:prstGeom prst="ellipse">
            <a:avLst/>
          </a:prstGeom>
          <a:solidFill>
            <a:srgbClr val="16385E"/>
          </a:solidFill>
          <a:ln w="12700">
            <a:solidFill>
              <a:srgbClr val="16385E"/>
            </a:solidFill>
            <a:prstDash val="solid"/>
          </a:ln>
        </p:spPr>
      </p:sp>
      <p:sp>
        <p:nvSpPr>
          <p:cNvPr id="30" name="Text 23"/>
          <p:cNvSpPr txBox="1"/>
          <p:nvPr/>
        </p:nvSpPr>
        <p:spPr>
          <a:xfrm>
            <a:off x="3739896" y="50292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1" name="Text 24"/>
          <p:cNvSpPr txBox="1"/>
          <p:nvPr/>
        </p:nvSpPr>
        <p:spPr>
          <a:xfrm>
            <a:off x="4361688" y="4892040"/>
            <a:ext cx="1463040" cy="777240"/>
          </a:xfrm>
          <a:prstGeom prst="rect">
            <a:avLst/>
          </a:prstGeom>
          <a:noFill/>
          <a:ln/>
        </p:spPr>
        <p:txBody>
          <a:bodyPr wrap="square" lIns="0" tIns="0" rIns="0" bIns="0" rtlCol="0" anchor="ctr"/>
          <a:lstStyle/>
          <a:p>
            <a:pPr indent="0" marL="0">
              <a:buNone/>
            </a:pPr>
            <a:r>
              <a:rPr lang="en-US" sz="1500" b="1" dirty="0">
                <a:solidFill>
                  <a:srgbClr val="102A45"/>
                </a:solidFill>
                <a:latin typeface="Calibri" pitchFamily="34" charset="0"/>
                <a:ea typeface="Calibri" pitchFamily="34" charset="-122"/>
                <a:cs typeface="Calibri" pitchFamily="34" charset="-120"/>
              </a:rPr>
              <a:t>Избор лета</a:t>
            </a:r>
            <a:endParaRPr lang="en-US" sz="1500" dirty="0"/>
          </a:p>
        </p:txBody>
      </p:sp>
      <p:pic>
        <p:nvPicPr>
          <p:cNvPr id="32" name="Image 5" descr="preencoded.png">    </p:cNvPr>
          <p:cNvPicPr>
            <a:picLocks noChangeAspect="1"/>
          </p:cNvPicPr>
          <p:nvPr/>
        </p:nvPicPr>
        <p:blipFill>
          <a:blip r:embed="rId6"/>
          <a:stretch>
            <a:fillRect/>
          </a:stretch>
        </p:blipFill>
        <p:spPr>
          <a:xfrm>
            <a:off x="6044184" y="5120640"/>
            <a:ext cx="310896" cy="310896"/>
          </a:xfrm>
          <a:prstGeom prst="rect">
            <a:avLst/>
          </a:prstGeom>
        </p:spPr>
      </p:pic>
      <p:sp>
        <p:nvSpPr>
          <p:cNvPr id="33" name="Shape 25"/>
          <p:cNvSpPr/>
          <p:nvPr/>
        </p:nvSpPr>
        <p:spPr>
          <a:xfrm>
            <a:off x="6483096" y="4892040"/>
            <a:ext cx="2331720" cy="777240"/>
          </a:xfrm>
          <a:prstGeom prst="roundRect">
            <a:avLst>
              <a:gd name="adj" fmla="val 49412"/>
            </a:avLst>
          </a:prstGeom>
          <a:solidFill>
            <a:srgbClr val="EEF3F9"/>
          </a:solidFill>
          <a:ln w="12700">
            <a:solidFill>
              <a:srgbClr val="D3DEEB"/>
            </a:solidFill>
            <a:prstDash val="solid"/>
          </a:ln>
        </p:spPr>
      </p:sp>
      <p:sp>
        <p:nvSpPr>
          <p:cNvPr id="34" name="Shape 26"/>
          <p:cNvSpPr/>
          <p:nvPr/>
        </p:nvSpPr>
        <p:spPr>
          <a:xfrm>
            <a:off x="6638544" y="5029200"/>
            <a:ext cx="502920" cy="502920"/>
          </a:xfrm>
          <a:prstGeom prst="ellipse">
            <a:avLst/>
          </a:prstGeom>
          <a:solidFill>
            <a:srgbClr val="16385E"/>
          </a:solidFill>
          <a:ln w="12700">
            <a:solidFill>
              <a:srgbClr val="16385E"/>
            </a:solidFill>
            <a:prstDash val="solid"/>
          </a:ln>
        </p:spPr>
      </p:sp>
      <p:sp>
        <p:nvSpPr>
          <p:cNvPr id="35" name="Text 27"/>
          <p:cNvSpPr txBox="1"/>
          <p:nvPr/>
        </p:nvSpPr>
        <p:spPr>
          <a:xfrm>
            <a:off x="6638544" y="50292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6" name="Text 28"/>
          <p:cNvSpPr txBox="1"/>
          <p:nvPr/>
        </p:nvSpPr>
        <p:spPr>
          <a:xfrm>
            <a:off x="7260336" y="4892040"/>
            <a:ext cx="1463040" cy="777240"/>
          </a:xfrm>
          <a:prstGeom prst="rect">
            <a:avLst/>
          </a:prstGeom>
          <a:noFill/>
          <a:ln/>
        </p:spPr>
        <p:txBody>
          <a:bodyPr wrap="square" lIns="0" tIns="0" rIns="0" bIns="0" rtlCol="0" anchor="ctr"/>
          <a:lstStyle/>
          <a:p>
            <a:pPr indent="0" marL="0">
              <a:buNone/>
            </a:pPr>
            <a:r>
              <a:rPr lang="en-US" sz="1500" b="1" dirty="0">
                <a:solidFill>
                  <a:srgbClr val="102A45"/>
                </a:solidFill>
                <a:latin typeface="Calibri" pitchFamily="34" charset="0"/>
                <a:ea typeface="Calibri" pitchFamily="34" charset="-122"/>
                <a:cs typeface="Calibri" pitchFamily="34" charset="-120"/>
              </a:rPr>
              <a:t>Избор смештаја</a:t>
            </a:r>
            <a:endParaRPr lang="en-US" sz="1500" dirty="0"/>
          </a:p>
        </p:txBody>
      </p:sp>
      <p:pic>
        <p:nvPicPr>
          <p:cNvPr id="37" name="Image 6" descr="preencoded.png">    </p:cNvPr>
          <p:cNvPicPr>
            <a:picLocks noChangeAspect="1"/>
          </p:cNvPicPr>
          <p:nvPr/>
        </p:nvPicPr>
        <p:blipFill>
          <a:blip r:embed="rId7"/>
          <a:stretch>
            <a:fillRect/>
          </a:stretch>
        </p:blipFill>
        <p:spPr>
          <a:xfrm>
            <a:off x="8942832" y="5120640"/>
            <a:ext cx="310896" cy="310896"/>
          </a:xfrm>
          <a:prstGeom prst="rect">
            <a:avLst/>
          </a:prstGeom>
        </p:spPr>
      </p:pic>
      <p:sp>
        <p:nvSpPr>
          <p:cNvPr id="38" name="Shape 29"/>
          <p:cNvSpPr/>
          <p:nvPr/>
        </p:nvSpPr>
        <p:spPr>
          <a:xfrm>
            <a:off x="9381744" y="4892040"/>
            <a:ext cx="2331720" cy="777240"/>
          </a:xfrm>
          <a:prstGeom prst="roundRect">
            <a:avLst>
              <a:gd name="adj" fmla="val 49412"/>
            </a:avLst>
          </a:prstGeom>
          <a:solidFill>
            <a:srgbClr val="16385E"/>
          </a:solidFill>
          <a:ln w="12700">
            <a:solidFill>
              <a:srgbClr val="16385E"/>
            </a:solidFill>
            <a:prstDash val="solid"/>
          </a:ln>
        </p:spPr>
      </p:sp>
      <p:sp>
        <p:nvSpPr>
          <p:cNvPr id="39" name="Shape 30"/>
          <p:cNvSpPr/>
          <p:nvPr/>
        </p:nvSpPr>
        <p:spPr>
          <a:xfrm>
            <a:off x="9537192" y="5029200"/>
            <a:ext cx="502920" cy="502920"/>
          </a:xfrm>
          <a:prstGeom prst="ellipse">
            <a:avLst/>
          </a:prstGeom>
          <a:solidFill>
            <a:srgbClr val="4F78A6"/>
          </a:solidFill>
          <a:ln w="12700">
            <a:solidFill>
              <a:srgbClr val="4F78A6"/>
            </a:solidFill>
            <a:prstDash val="solid"/>
          </a:ln>
        </p:spPr>
      </p:sp>
      <p:sp>
        <p:nvSpPr>
          <p:cNvPr id="40" name="Text 31"/>
          <p:cNvSpPr txBox="1"/>
          <p:nvPr/>
        </p:nvSpPr>
        <p:spPr>
          <a:xfrm>
            <a:off x="9537192" y="50292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1" name="Text 32"/>
          <p:cNvSpPr txBox="1"/>
          <p:nvPr/>
        </p:nvSpPr>
        <p:spPr>
          <a:xfrm>
            <a:off x="10158984" y="4892040"/>
            <a:ext cx="146304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План по данима</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АРХИТЕКТУРА</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Микросервиси иза једне улазне тачке</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685800" y="1527048"/>
            <a:ext cx="7095744" cy="4582845"/>
          </a:xfrm>
          <a:prstGeom prst="roundRect">
            <a:avLst>
              <a:gd name="adj" fmla="val 1995"/>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pic>
        <p:nvPicPr>
          <p:cNvPr id="8" name="Image 1" descr="">    </p:cNvPr>
          <p:cNvPicPr>
            <a:picLocks noChangeAspect="1"/>
          </p:cNvPicPr>
          <p:nvPr/>
        </p:nvPicPr>
        <p:blipFill>
          <a:blip r:embed="rId2"/>
          <a:stretch>
            <a:fillRect/>
          </a:stretch>
        </p:blipFill>
        <p:spPr>
          <a:xfrm>
            <a:off x="758952" y="1600200"/>
            <a:ext cx="6949440" cy="4436541"/>
          </a:xfrm>
          <a:prstGeom prst="rect">
            <a:avLst/>
          </a:prstGeom>
        </p:spPr>
      </p:pic>
      <p:sp>
        <p:nvSpPr>
          <p:cNvPr id="9" name="Text 5"/>
          <p:cNvSpPr txBox="1"/>
          <p:nvPr/>
        </p:nvSpPr>
        <p:spPr>
          <a:xfrm>
            <a:off x="8275320" y="1554480"/>
            <a:ext cx="822960" cy="822960"/>
          </a:xfrm>
          <a:prstGeom prst="rect">
            <a:avLst/>
          </a:prstGeom>
          <a:noFill/>
          <a:ln/>
        </p:spPr>
        <p:txBody>
          <a:bodyPr wrap="square" lIns="0" tIns="0" rIns="0" bIns="0" rtlCol="0" anchor="ctr"/>
          <a:lstStyle/>
          <a:p>
            <a:pPr indent="0" marL="0">
              <a:buNone/>
            </a:pPr>
            <a:r>
              <a:rPr lang="en-US" sz="4400" dirty="0">
                <a:solidFill>
                  <a:srgbClr val="16385E"/>
                </a:solidFill>
                <a:latin typeface="Cambria" pitchFamily="34" charset="0"/>
                <a:ea typeface="Cambria" pitchFamily="34" charset="-122"/>
                <a:cs typeface="Cambria" pitchFamily="34" charset="-120"/>
              </a:rPr>
              <a:t>9</a:t>
            </a:r>
            <a:endParaRPr lang="en-US" sz="4400" dirty="0"/>
          </a:p>
        </p:txBody>
      </p:sp>
      <p:sp>
        <p:nvSpPr>
          <p:cNvPr id="10" name="Text 6"/>
          <p:cNvSpPr txBox="1"/>
          <p:nvPr/>
        </p:nvSpPr>
        <p:spPr>
          <a:xfrm>
            <a:off x="9144000" y="1554480"/>
            <a:ext cx="2361895" cy="822960"/>
          </a:xfrm>
          <a:prstGeom prst="rect">
            <a:avLst/>
          </a:prstGeom>
          <a:noFill/>
          <a:ln/>
        </p:spPr>
        <p:txBody>
          <a:bodyPr wrap="square" lIns="0" tIns="0" rIns="0" bIns="0" rtlCol="0" anchor="ctr"/>
          <a:lstStyle/>
          <a:p>
            <a:pPr indent="0" marL="0">
              <a:buNone/>
            </a:pPr>
            <a:r>
              <a:rPr lang="en-US" sz="1400" dirty="0">
                <a:solidFill>
                  <a:srgbClr val="5E6B7A"/>
                </a:solidFill>
                <a:latin typeface="Calibri" pitchFamily="34" charset="0"/>
                <a:ea typeface="Calibri" pitchFamily="34" charset="-122"/>
                <a:cs typeface="Calibri" pitchFamily="34" charset="-120"/>
              </a:rPr>
              <a:t>компоненти позадинског дела: API Gateway и 8 сервиса</a:t>
            </a:r>
            <a:endParaRPr lang="en-US" sz="1400" dirty="0"/>
          </a:p>
        </p:txBody>
      </p:sp>
      <p:sp>
        <p:nvSpPr>
          <p:cNvPr id="11" name="Text 7"/>
          <p:cNvSpPr txBox="1"/>
          <p:nvPr/>
        </p:nvSpPr>
        <p:spPr>
          <a:xfrm>
            <a:off x="8275320" y="2606040"/>
            <a:ext cx="822960" cy="822960"/>
          </a:xfrm>
          <a:prstGeom prst="rect">
            <a:avLst/>
          </a:prstGeom>
          <a:noFill/>
          <a:ln/>
        </p:spPr>
        <p:txBody>
          <a:bodyPr wrap="square" lIns="0" tIns="0" rIns="0" bIns="0" rtlCol="0" anchor="ctr"/>
          <a:lstStyle/>
          <a:p>
            <a:pPr indent="0" marL="0">
              <a:buNone/>
            </a:pPr>
            <a:r>
              <a:rPr lang="en-US" sz="4400" dirty="0">
                <a:solidFill>
                  <a:srgbClr val="16385E"/>
                </a:solidFill>
                <a:latin typeface="Cambria" pitchFamily="34" charset="0"/>
                <a:ea typeface="Cambria" pitchFamily="34" charset="-122"/>
                <a:cs typeface="Cambria" pitchFamily="34" charset="-120"/>
              </a:rPr>
              <a:t>7</a:t>
            </a:r>
            <a:endParaRPr lang="en-US" sz="4400" dirty="0"/>
          </a:p>
        </p:txBody>
      </p:sp>
      <p:sp>
        <p:nvSpPr>
          <p:cNvPr id="12" name="Text 8"/>
          <p:cNvSpPr txBox="1"/>
          <p:nvPr/>
        </p:nvSpPr>
        <p:spPr>
          <a:xfrm>
            <a:off x="9144000" y="2606040"/>
            <a:ext cx="2361895" cy="822960"/>
          </a:xfrm>
          <a:prstGeom prst="rect">
            <a:avLst/>
          </a:prstGeom>
          <a:noFill/>
          <a:ln/>
        </p:spPr>
        <p:txBody>
          <a:bodyPr wrap="square" lIns="0" tIns="0" rIns="0" bIns="0" rtlCol="0" anchor="ctr"/>
          <a:lstStyle/>
          <a:p>
            <a:pPr indent="0" marL="0">
              <a:buNone/>
            </a:pPr>
            <a:r>
              <a:rPr lang="en-US" sz="1400" dirty="0">
                <a:solidFill>
                  <a:srgbClr val="5E6B7A"/>
                </a:solidFill>
                <a:latin typeface="Calibri" pitchFamily="34" charset="0"/>
                <a:ea typeface="Calibri" pitchFamily="34" charset="-122"/>
                <a:cs typeface="Calibri" pitchFamily="34" charset="-120"/>
              </a:rPr>
              <a:t>MongoDB база, 22 колекције, 14 TTL индекса</a:t>
            </a:r>
            <a:endParaRPr lang="en-US" sz="1400" dirty="0"/>
          </a:p>
        </p:txBody>
      </p:sp>
      <p:sp>
        <p:nvSpPr>
          <p:cNvPr id="13" name="Text 9"/>
          <p:cNvSpPr txBox="1"/>
          <p:nvPr/>
        </p:nvSpPr>
        <p:spPr>
          <a:xfrm>
            <a:off x="8275320" y="3749040"/>
            <a:ext cx="3230575"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02A45"/>
                </a:solidFill>
                <a:latin typeface="Calibri" pitchFamily="34" charset="0"/>
                <a:ea typeface="Calibri" pitchFamily="34" charset="-122"/>
                <a:cs typeface="Calibri" pitchFamily="34" charset="-120"/>
              </a:rPr>
              <a:t>Integration Service је једини који позива екстерне сервисе</a:t>
            </a:r>
            <a:endParaRPr lang="en-US" sz="1400" dirty="0"/>
          </a:p>
          <a:p>
            <a:pPr marL="342900" indent="-342900">
              <a:spcAft>
                <a:spcPts val="600"/>
              </a:spcAft>
              <a:buSzPct val="100000"/>
              <a:buChar char="•"/>
            </a:pPr>
            <a:r>
              <a:rPr lang="en-US" sz="1400" dirty="0">
                <a:solidFill>
                  <a:srgbClr val="102A45"/>
                </a:solidFill>
                <a:latin typeface="Calibri" pitchFamily="34" charset="0"/>
                <a:ea typeface="Calibri" pitchFamily="34" charset="-122"/>
                <a:cs typeface="Calibri" pitchFamily="34" charset="-120"/>
              </a:rPr>
              <a:t>Planner Service нема стање и тестира се без базе и мреже</a:t>
            </a:r>
            <a:endParaRPr lang="en-US" sz="1400" dirty="0"/>
          </a:p>
          <a:p>
            <a:pPr marL="342900" indent="-342900">
              <a:spcAft>
                <a:spcPts val="600"/>
              </a:spcAft>
              <a:buSzPct val="100000"/>
              <a:buChar char="•"/>
            </a:pPr>
            <a:r>
              <a:rPr lang="en-US" sz="1400" dirty="0">
                <a:solidFill>
                  <a:srgbClr val="102A45"/>
                </a:solidFill>
                <a:latin typeface="Calibri" pitchFamily="34" charset="0"/>
                <a:ea typeface="Calibri" pitchFamily="34" charset="-122"/>
                <a:cs typeface="Calibri" pitchFamily="34" charset="-120"/>
              </a:rPr>
              <a:t>Пад помоћног сервиса не спречава планирање</a:t>
            </a:r>
            <a:endParaRPr lang="en-US" sz="1400" dirty="0"/>
          </a:p>
          <a:p>
            <a:pPr marL="342900" indent="-342900">
              <a:spcAft>
                <a:spcPts val="600"/>
              </a:spcAft>
              <a:buSzPct val="100000"/>
              <a:buChar char="•"/>
            </a:pPr>
            <a:r>
              <a:rPr lang="en-US" sz="1400" dirty="0">
                <a:solidFill>
                  <a:srgbClr val="102A45"/>
                </a:solidFill>
                <a:latin typeface="Calibri" pitchFamily="34" charset="0"/>
                <a:ea typeface="Calibri" pitchFamily="34" charset="-122"/>
                <a:cs typeface="Calibri" pitchFamily="34" charset="-120"/>
              </a:rPr>
              <a:t>Gateway опозива токен пре истека (верзија токена)</a:t>
            </a:r>
            <a:endParaRPr lang="en-US" sz="1400" dirty="0"/>
          </a:p>
        </p:txBody>
      </p:sp>
      <p:sp>
        <p:nvSpPr>
          <p:cNvPr id="14" name="Text 10"/>
          <p:cNvSpPr txBox="1"/>
          <p:nvPr/>
        </p:nvSpPr>
        <p:spPr>
          <a:xfrm>
            <a:off x="8275320" y="5989320"/>
            <a:ext cx="3230575" cy="274320"/>
          </a:xfrm>
          <a:prstGeom prst="rect">
            <a:avLst/>
          </a:prstGeom>
          <a:noFill/>
          <a:ln/>
        </p:spPr>
        <p:txBody>
          <a:bodyPr wrap="square" lIns="0" tIns="0" rIns="0" bIns="0" rtlCol="0" anchor="t"/>
          <a:lstStyle/>
          <a:p>
            <a:pPr indent="0" marL="0">
              <a:buNone/>
            </a:pPr>
            <a:r>
              <a:rPr lang="en-US" sz="1200" b="1" dirty="0">
                <a:solidFill>
                  <a:srgbClr val="4F78A6"/>
                </a:solidFill>
                <a:latin typeface="Calibri" pitchFamily="34" charset="0"/>
                <a:ea typeface="Calibri" pitchFamily="34" charset="-122"/>
                <a:cs typeface="Calibri" pitchFamily="34" charset="-120"/>
              </a:rPr>
              <a:t>Node.js · Express · Angular 20 · MongoDB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ИНТЕГРАЦИОНИ СЛОЈ</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Екстерни сервиси иза адаптера</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685800" y="1600200"/>
            <a:ext cx="6903720" cy="914400"/>
          </a:xfrm>
          <a:prstGeom prst="roundRect">
            <a:avLst>
              <a:gd name="adj" fmla="val 120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8" name="Shape 5"/>
          <p:cNvSpPr/>
          <p:nvPr/>
        </p:nvSpPr>
        <p:spPr>
          <a:xfrm>
            <a:off x="886968" y="1783080"/>
            <a:ext cx="548640" cy="548640"/>
          </a:xfrm>
          <a:prstGeom prst="ellipse">
            <a:avLst/>
          </a:prstGeom>
          <a:solidFill>
            <a:srgbClr val="16385E"/>
          </a:solidFill>
          <a:ln w="12700">
            <a:solidFill>
              <a:srgbClr val="16385E"/>
            </a:solidFill>
            <a:prstDash val="solid"/>
          </a:ln>
        </p:spPr>
      </p:sp>
      <p:pic>
        <p:nvPicPr>
          <p:cNvPr id="9" name="Image 1" descr="preencoded.png">    </p:cNvPr>
          <p:cNvPicPr>
            <a:picLocks noChangeAspect="1"/>
          </p:cNvPicPr>
          <p:nvPr/>
        </p:nvPicPr>
        <p:blipFill>
          <a:blip r:embed="rId2"/>
          <a:stretch>
            <a:fillRect/>
          </a:stretch>
        </p:blipFill>
        <p:spPr>
          <a:xfrm>
            <a:off x="1018642" y="1914754"/>
            <a:ext cx="285293" cy="285293"/>
          </a:xfrm>
          <a:prstGeom prst="rect">
            <a:avLst/>
          </a:prstGeom>
        </p:spPr>
      </p:pic>
      <p:sp>
        <p:nvSpPr>
          <p:cNvPr id="10" name="Text 6"/>
          <p:cNvSpPr txBox="1"/>
          <p:nvPr/>
        </p:nvSpPr>
        <p:spPr>
          <a:xfrm>
            <a:off x="1600200" y="1728216"/>
            <a:ext cx="1371600" cy="320040"/>
          </a:xfrm>
          <a:prstGeom prst="rect">
            <a:avLst/>
          </a:prstGeom>
          <a:noFill/>
          <a:ln/>
        </p:spPr>
        <p:txBody>
          <a:bodyPr wrap="square" lIns="0" tIns="0" rIns="0" bIns="0" rtlCol="0" anchor="t"/>
          <a:lstStyle/>
          <a:p>
            <a:pPr indent="0" marL="0">
              <a:buNone/>
            </a:pPr>
            <a:r>
              <a:rPr lang="en-US" sz="1200" dirty="0">
                <a:solidFill>
                  <a:srgbClr val="5E6B7A"/>
                </a:solidFill>
                <a:latin typeface="Calibri" pitchFamily="34" charset="0"/>
                <a:ea typeface="Calibri" pitchFamily="34" charset="-122"/>
                <a:cs typeface="Calibri" pitchFamily="34" charset="-120"/>
              </a:rPr>
              <a:t>Летови</a:t>
            </a:r>
            <a:endParaRPr lang="en-US" sz="1200" dirty="0"/>
          </a:p>
        </p:txBody>
      </p:sp>
      <p:sp>
        <p:nvSpPr>
          <p:cNvPr id="11" name="Text 7"/>
          <p:cNvSpPr txBox="1"/>
          <p:nvPr/>
        </p:nvSpPr>
        <p:spPr>
          <a:xfrm>
            <a:off x="1600200" y="2002536"/>
            <a:ext cx="2148840" cy="384048"/>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Duffel</a:t>
            </a:r>
            <a:endParaRPr lang="en-US" sz="1600" dirty="0"/>
          </a:p>
        </p:txBody>
      </p:sp>
      <p:sp>
        <p:nvSpPr>
          <p:cNvPr id="12" name="Text 8"/>
          <p:cNvSpPr txBox="1"/>
          <p:nvPr/>
        </p:nvSpPr>
        <p:spPr>
          <a:xfrm>
            <a:off x="3794760" y="1600200"/>
            <a:ext cx="2743200" cy="914400"/>
          </a:xfrm>
          <a:prstGeom prst="rect">
            <a:avLst/>
          </a:prstGeom>
          <a:noFill/>
          <a:ln/>
        </p:spPr>
        <p:txBody>
          <a:bodyPr wrap="square" lIns="0" tIns="0" rIns="0" bIns="0" rtlCol="0" anchor="ctr"/>
          <a:lstStyle/>
          <a:p>
            <a:pPr indent="0" marL="0">
              <a:buNone/>
            </a:pPr>
            <a:r>
              <a:rPr lang="en-US" sz="1300" dirty="0">
                <a:solidFill>
                  <a:srgbClr val="5E6B7A"/>
                </a:solidFill>
                <a:latin typeface="Calibri" pitchFamily="34" charset="0"/>
                <a:ea typeface="Calibri" pitchFamily="34" charset="-122"/>
                <a:cs typeface="Calibri" pitchFamily="34" charset="-120"/>
              </a:rPr>
              <a:t>претрага, резервација и отказивање у тест режиму</a:t>
            </a:r>
            <a:endParaRPr lang="en-US" sz="1300" dirty="0"/>
          </a:p>
        </p:txBody>
      </p:sp>
      <p:sp>
        <p:nvSpPr>
          <p:cNvPr id="13" name="Text 9"/>
          <p:cNvSpPr txBox="1"/>
          <p:nvPr/>
        </p:nvSpPr>
        <p:spPr>
          <a:xfrm>
            <a:off x="6675120" y="1600200"/>
            <a:ext cx="731520" cy="914400"/>
          </a:xfrm>
          <a:prstGeom prst="rect">
            <a:avLst/>
          </a:prstGeom>
          <a:noFill/>
          <a:ln/>
        </p:spPr>
        <p:txBody>
          <a:bodyPr wrap="square" lIns="0" tIns="0" rIns="0" bIns="0" rtlCol="0" anchor="ctr"/>
          <a:lstStyle/>
          <a:p>
            <a:pPr algn="r" indent="0" marL="0">
              <a:buNone/>
            </a:pPr>
            <a:r>
              <a:rPr lang="en-US" sz="1300" b="1" dirty="0">
                <a:solidFill>
                  <a:srgbClr val="16385E"/>
                </a:solidFill>
                <a:latin typeface="Calibri" pitchFamily="34" charset="0"/>
                <a:ea typeface="Calibri" pitchFamily="34" charset="-122"/>
                <a:cs typeface="Calibri" pitchFamily="34" charset="-120"/>
              </a:rPr>
              <a:t>15 мин</a:t>
            </a:r>
            <a:endParaRPr lang="en-US" sz="1300" dirty="0"/>
          </a:p>
        </p:txBody>
      </p:sp>
      <p:sp>
        <p:nvSpPr>
          <p:cNvPr id="14" name="Shape 10"/>
          <p:cNvSpPr/>
          <p:nvPr/>
        </p:nvSpPr>
        <p:spPr>
          <a:xfrm>
            <a:off x="685800" y="2670048"/>
            <a:ext cx="6903720" cy="914400"/>
          </a:xfrm>
          <a:prstGeom prst="roundRect">
            <a:avLst>
              <a:gd name="adj" fmla="val 120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5" name="Shape 11"/>
          <p:cNvSpPr/>
          <p:nvPr/>
        </p:nvSpPr>
        <p:spPr>
          <a:xfrm>
            <a:off x="886968" y="2852928"/>
            <a:ext cx="548640" cy="548640"/>
          </a:xfrm>
          <a:prstGeom prst="ellipse">
            <a:avLst/>
          </a:prstGeom>
          <a:solidFill>
            <a:srgbClr val="16385E"/>
          </a:solidFill>
          <a:ln w="12700">
            <a:solidFill>
              <a:srgbClr val="16385E"/>
            </a:solidFill>
            <a:prstDash val="solid"/>
          </a:ln>
        </p:spPr>
      </p:sp>
      <p:pic>
        <p:nvPicPr>
          <p:cNvPr id="16" name="Image 2" descr="preencoded.png">    </p:cNvPr>
          <p:cNvPicPr>
            <a:picLocks noChangeAspect="1"/>
          </p:cNvPicPr>
          <p:nvPr/>
        </p:nvPicPr>
        <p:blipFill>
          <a:blip r:embed="rId3"/>
          <a:stretch>
            <a:fillRect/>
          </a:stretch>
        </p:blipFill>
        <p:spPr>
          <a:xfrm>
            <a:off x="1018642" y="2984602"/>
            <a:ext cx="285293" cy="285293"/>
          </a:xfrm>
          <a:prstGeom prst="rect">
            <a:avLst/>
          </a:prstGeom>
        </p:spPr>
      </p:pic>
      <p:sp>
        <p:nvSpPr>
          <p:cNvPr id="17" name="Text 12"/>
          <p:cNvSpPr txBox="1"/>
          <p:nvPr/>
        </p:nvSpPr>
        <p:spPr>
          <a:xfrm>
            <a:off x="1600200" y="2798064"/>
            <a:ext cx="1371600" cy="320040"/>
          </a:xfrm>
          <a:prstGeom prst="rect">
            <a:avLst/>
          </a:prstGeom>
          <a:noFill/>
          <a:ln/>
        </p:spPr>
        <p:txBody>
          <a:bodyPr wrap="square" lIns="0" tIns="0" rIns="0" bIns="0" rtlCol="0" anchor="t"/>
          <a:lstStyle/>
          <a:p>
            <a:pPr indent="0" marL="0">
              <a:buNone/>
            </a:pPr>
            <a:r>
              <a:rPr lang="en-US" sz="1200" dirty="0">
                <a:solidFill>
                  <a:srgbClr val="5E6B7A"/>
                </a:solidFill>
                <a:latin typeface="Calibri" pitchFamily="34" charset="0"/>
                <a:ea typeface="Calibri" pitchFamily="34" charset="-122"/>
                <a:cs typeface="Calibri" pitchFamily="34" charset="-120"/>
              </a:rPr>
              <a:t>Смештај</a:t>
            </a:r>
            <a:endParaRPr lang="en-US" sz="1200" dirty="0"/>
          </a:p>
        </p:txBody>
      </p:sp>
      <p:sp>
        <p:nvSpPr>
          <p:cNvPr id="18" name="Text 13"/>
          <p:cNvSpPr txBox="1"/>
          <p:nvPr/>
        </p:nvSpPr>
        <p:spPr>
          <a:xfrm>
            <a:off x="1600200" y="3072384"/>
            <a:ext cx="2148840" cy="384048"/>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LiteAPI</a:t>
            </a:r>
            <a:endParaRPr lang="en-US" sz="1600" dirty="0"/>
          </a:p>
        </p:txBody>
      </p:sp>
      <p:sp>
        <p:nvSpPr>
          <p:cNvPr id="19" name="Text 14"/>
          <p:cNvSpPr txBox="1"/>
          <p:nvPr/>
        </p:nvSpPr>
        <p:spPr>
          <a:xfrm>
            <a:off x="3794760" y="2670048"/>
            <a:ext cx="2743200" cy="914400"/>
          </a:xfrm>
          <a:prstGeom prst="rect">
            <a:avLst/>
          </a:prstGeom>
          <a:noFill/>
          <a:ln/>
        </p:spPr>
        <p:txBody>
          <a:bodyPr wrap="square" lIns="0" tIns="0" rIns="0" bIns="0" rtlCol="0" anchor="ctr"/>
          <a:lstStyle/>
          <a:p>
            <a:pPr indent="0" marL="0">
              <a:buNone/>
            </a:pPr>
            <a:r>
              <a:rPr lang="en-US" sz="1300" dirty="0">
                <a:solidFill>
                  <a:srgbClr val="5E6B7A"/>
                </a:solidFill>
                <a:latin typeface="Calibri" pitchFamily="34" charset="0"/>
                <a:ea typeface="Calibri" pitchFamily="34" charset="-122"/>
                <a:cs typeface="Calibri" pitchFamily="34" charset="-120"/>
              </a:rPr>
              <a:t>хотели и цене у sandbox режиму; веза ка Booking.com</a:t>
            </a:r>
            <a:endParaRPr lang="en-US" sz="1300" dirty="0"/>
          </a:p>
        </p:txBody>
      </p:sp>
      <p:sp>
        <p:nvSpPr>
          <p:cNvPr id="20" name="Text 15"/>
          <p:cNvSpPr txBox="1"/>
          <p:nvPr/>
        </p:nvSpPr>
        <p:spPr>
          <a:xfrm>
            <a:off x="6675120" y="2670048"/>
            <a:ext cx="731520" cy="914400"/>
          </a:xfrm>
          <a:prstGeom prst="rect">
            <a:avLst/>
          </a:prstGeom>
          <a:noFill/>
          <a:ln/>
        </p:spPr>
        <p:txBody>
          <a:bodyPr wrap="square" lIns="0" tIns="0" rIns="0" bIns="0" rtlCol="0" anchor="ctr"/>
          <a:lstStyle/>
          <a:p>
            <a:pPr algn="r" indent="0" marL="0">
              <a:buNone/>
            </a:pPr>
            <a:r>
              <a:rPr lang="en-US" sz="1300" b="1" dirty="0">
                <a:solidFill>
                  <a:srgbClr val="16385E"/>
                </a:solidFill>
                <a:latin typeface="Calibri" pitchFamily="34" charset="0"/>
                <a:ea typeface="Calibri" pitchFamily="34" charset="-122"/>
                <a:cs typeface="Calibri" pitchFamily="34" charset="-120"/>
              </a:rPr>
              <a:t>30 мин</a:t>
            </a:r>
            <a:endParaRPr lang="en-US" sz="1300" dirty="0"/>
          </a:p>
        </p:txBody>
      </p:sp>
      <p:sp>
        <p:nvSpPr>
          <p:cNvPr id="21" name="Shape 16"/>
          <p:cNvSpPr/>
          <p:nvPr/>
        </p:nvSpPr>
        <p:spPr>
          <a:xfrm>
            <a:off x="685800" y="3739896"/>
            <a:ext cx="6903720" cy="914400"/>
          </a:xfrm>
          <a:prstGeom prst="roundRect">
            <a:avLst>
              <a:gd name="adj" fmla="val 120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22" name="Shape 17"/>
          <p:cNvSpPr/>
          <p:nvPr/>
        </p:nvSpPr>
        <p:spPr>
          <a:xfrm>
            <a:off x="886968" y="3922776"/>
            <a:ext cx="548640" cy="548640"/>
          </a:xfrm>
          <a:prstGeom prst="ellipse">
            <a:avLst/>
          </a:prstGeom>
          <a:solidFill>
            <a:srgbClr val="16385E"/>
          </a:solidFill>
          <a:ln w="12700">
            <a:solidFill>
              <a:srgbClr val="16385E"/>
            </a:solidFill>
            <a:prstDash val="solid"/>
          </a:ln>
        </p:spPr>
      </p:sp>
      <p:pic>
        <p:nvPicPr>
          <p:cNvPr id="23" name="Image 3" descr="preencoded.png">    </p:cNvPr>
          <p:cNvPicPr>
            <a:picLocks noChangeAspect="1"/>
          </p:cNvPicPr>
          <p:nvPr/>
        </p:nvPicPr>
        <p:blipFill>
          <a:blip r:embed="rId4"/>
          <a:stretch>
            <a:fillRect/>
          </a:stretch>
        </p:blipFill>
        <p:spPr>
          <a:xfrm>
            <a:off x="1018642" y="4054450"/>
            <a:ext cx="285293" cy="285293"/>
          </a:xfrm>
          <a:prstGeom prst="rect">
            <a:avLst/>
          </a:prstGeom>
        </p:spPr>
      </p:pic>
      <p:sp>
        <p:nvSpPr>
          <p:cNvPr id="24" name="Text 18"/>
          <p:cNvSpPr txBox="1"/>
          <p:nvPr/>
        </p:nvSpPr>
        <p:spPr>
          <a:xfrm>
            <a:off x="1600200" y="3867912"/>
            <a:ext cx="1371600" cy="320040"/>
          </a:xfrm>
          <a:prstGeom prst="rect">
            <a:avLst/>
          </a:prstGeom>
          <a:noFill/>
          <a:ln/>
        </p:spPr>
        <p:txBody>
          <a:bodyPr wrap="square" lIns="0" tIns="0" rIns="0" bIns="0" rtlCol="0" anchor="t"/>
          <a:lstStyle/>
          <a:p>
            <a:pPr indent="0" marL="0">
              <a:buNone/>
            </a:pPr>
            <a:r>
              <a:rPr lang="en-US" sz="1200" dirty="0">
                <a:solidFill>
                  <a:srgbClr val="5E6B7A"/>
                </a:solidFill>
                <a:latin typeface="Calibri" pitchFamily="34" charset="0"/>
                <a:ea typeface="Calibri" pitchFamily="34" charset="-122"/>
                <a:cs typeface="Calibri" pitchFamily="34" charset="-120"/>
              </a:rPr>
              <a:t>Атракције</a:t>
            </a:r>
            <a:endParaRPr lang="en-US" sz="1200" dirty="0"/>
          </a:p>
        </p:txBody>
      </p:sp>
      <p:sp>
        <p:nvSpPr>
          <p:cNvPr id="25" name="Text 19"/>
          <p:cNvSpPr txBox="1"/>
          <p:nvPr/>
        </p:nvSpPr>
        <p:spPr>
          <a:xfrm>
            <a:off x="1600200" y="4142232"/>
            <a:ext cx="2148840" cy="384048"/>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Geoapify</a:t>
            </a:r>
            <a:endParaRPr lang="en-US" sz="1600" dirty="0"/>
          </a:p>
        </p:txBody>
      </p:sp>
      <p:sp>
        <p:nvSpPr>
          <p:cNvPr id="26" name="Text 20"/>
          <p:cNvSpPr txBox="1"/>
          <p:nvPr/>
        </p:nvSpPr>
        <p:spPr>
          <a:xfrm>
            <a:off x="3794760" y="3739896"/>
            <a:ext cx="2743200" cy="914400"/>
          </a:xfrm>
          <a:prstGeom prst="rect">
            <a:avLst/>
          </a:prstGeom>
          <a:noFill/>
          <a:ln/>
        </p:spPr>
        <p:txBody>
          <a:bodyPr wrap="square" lIns="0" tIns="0" rIns="0" bIns="0" rtlCol="0" anchor="ctr"/>
          <a:lstStyle/>
          <a:p>
            <a:pPr indent="0" marL="0">
              <a:buNone/>
            </a:pPr>
            <a:r>
              <a:rPr lang="en-US" sz="1300" dirty="0">
                <a:solidFill>
                  <a:srgbClr val="5E6B7A"/>
                </a:solidFill>
                <a:latin typeface="Calibri" pitchFamily="34" charset="0"/>
                <a:ea typeface="Calibri" pitchFamily="34" charset="-122"/>
                <a:cs typeface="Calibri" pitchFamily="34" charset="-120"/>
              </a:rPr>
              <a:t>места по категорији; опис и слика са Википедије</a:t>
            </a:r>
            <a:endParaRPr lang="en-US" sz="1300" dirty="0"/>
          </a:p>
        </p:txBody>
      </p:sp>
      <p:sp>
        <p:nvSpPr>
          <p:cNvPr id="27" name="Text 21"/>
          <p:cNvSpPr txBox="1"/>
          <p:nvPr/>
        </p:nvSpPr>
        <p:spPr>
          <a:xfrm>
            <a:off x="6675120" y="3739896"/>
            <a:ext cx="731520" cy="914400"/>
          </a:xfrm>
          <a:prstGeom prst="rect">
            <a:avLst/>
          </a:prstGeom>
          <a:noFill/>
          <a:ln/>
        </p:spPr>
        <p:txBody>
          <a:bodyPr wrap="square" lIns="0" tIns="0" rIns="0" bIns="0" rtlCol="0" anchor="ctr"/>
          <a:lstStyle/>
          <a:p>
            <a:pPr algn="r" indent="0" marL="0">
              <a:buNone/>
            </a:pPr>
            <a:r>
              <a:rPr lang="en-US" sz="1300" b="1" dirty="0">
                <a:solidFill>
                  <a:srgbClr val="16385E"/>
                </a:solidFill>
                <a:latin typeface="Calibri" pitchFamily="34" charset="0"/>
                <a:ea typeface="Calibri" pitchFamily="34" charset="-122"/>
                <a:cs typeface="Calibri" pitchFamily="34" charset="-120"/>
              </a:rPr>
              <a:t>7 дана</a:t>
            </a:r>
            <a:endParaRPr lang="en-US" sz="1300" dirty="0"/>
          </a:p>
        </p:txBody>
      </p:sp>
      <p:sp>
        <p:nvSpPr>
          <p:cNvPr id="28" name="Shape 22"/>
          <p:cNvSpPr/>
          <p:nvPr/>
        </p:nvSpPr>
        <p:spPr>
          <a:xfrm>
            <a:off x="685800" y="4809744"/>
            <a:ext cx="6903720" cy="914400"/>
          </a:xfrm>
          <a:prstGeom prst="roundRect">
            <a:avLst>
              <a:gd name="adj" fmla="val 120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29" name="Shape 23"/>
          <p:cNvSpPr/>
          <p:nvPr/>
        </p:nvSpPr>
        <p:spPr>
          <a:xfrm>
            <a:off x="886968" y="4992624"/>
            <a:ext cx="548640" cy="548640"/>
          </a:xfrm>
          <a:prstGeom prst="ellipse">
            <a:avLst/>
          </a:prstGeom>
          <a:solidFill>
            <a:srgbClr val="16385E"/>
          </a:solidFill>
          <a:ln w="12700">
            <a:solidFill>
              <a:srgbClr val="16385E"/>
            </a:solidFill>
            <a:prstDash val="solid"/>
          </a:ln>
        </p:spPr>
      </p:sp>
      <p:pic>
        <p:nvPicPr>
          <p:cNvPr id="30" name="Image 4" descr="preencoded.png">    </p:cNvPr>
          <p:cNvPicPr>
            <a:picLocks noChangeAspect="1"/>
          </p:cNvPicPr>
          <p:nvPr/>
        </p:nvPicPr>
        <p:blipFill>
          <a:blip r:embed="rId5"/>
          <a:stretch>
            <a:fillRect/>
          </a:stretch>
        </p:blipFill>
        <p:spPr>
          <a:xfrm>
            <a:off x="1018642" y="5124298"/>
            <a:ext cx="285293" cy="285293"/>
          </a:xfrm>
          <a:prstGeom prst="rect">
            <a:avLst/>
          </a:prstGeom>
        </p:spPr>
      </p:pic>
      <p:sp>
        <p:nvSpPr>
          <p:cNvPr id="31" name="Text 24"/>
          <p:cNvSpPr txBox="1"/>
          <p:nvPr/>
        </p:nvSpPr>
        <p:spPr>
          <a:xfrm>
            <a:off x="1600200" y="4937760"/>
            <a:ext cx="1371600" cy="320040"/>
          </a:xfrm>
          <a:prstGeom prst="rect">
            <a:avLst/>
          </a:prstGeom>
          <a:noFill/>
          <a:ln/>
        </p:spPr>
        <p:txBody>
          <a:bodyPr wrap="square" lIns="0" tIns="0" rIns="0" bIns="0" rtlCol="0" anchor="t"/>
          <a:lstStyle/>
          <a:p>
            <a:pPr indent="0" marL="0">
              <a:buNone/>
            </a:pPr>
            <a:r>
              <a:rPr lang="en-US" sz="1200" dirty="0">
                <a:solidFill>
                  <a:srgbClr val="5E6B7A"/>
                </a:solidFill>
                <a:latin typeface="Calibri" pitchFamily="34" charset="0"/>
                <a:ea typeface="Calibri" pitchFamily="34" charset="-122"/>
                <a:cs typeface="Calibri" pitchFamily="34" charset="-120"/>
              </a:rPr>
              <a:t>Градови</a:t>
            </a:r>
            <a:endParaRPr lang="en-US" sz="1200" dirty="0"/>
          </a:p>
        </p:txBody>
      </p:sp>
      <p:sp>
        <p:nvSpPr>
          <p:cNvPr id="32" name="Text 25"/>
          <p:cNvSpPr txBox="1"/>
          <p:nvPr/>
        </p:nvSpPr>
        <p:spPr>
          <a:xfrm>
            <a:off x="1600200" y="5212080"/>
            <a:ext cx="2148840" cy="384048"/>
          </a:xfrm>
          <a:prstGeom prst="rect">
            <a:avLst/>
          </a:prstGeom>
          <a:noFill/>
          <a:ln/>
        </p:spPr>
        <p:txBody>
          <a:bodyPr wrap="square" lIns="0" tIns="0" rIns="0" bIns="0" rtlCol="0" anchor="t"/>
          <a:lstStyle/>
          <a:p>
            <a:pPr indent="0" marL="0">
              <a:buNone/>
            </a:pPr>
            <a:r>
              <a:rPr lang="en-US" sz="1350" b="1" dirty="0">
                <a:solidFill>
                  <a:srgbClr val="102A45"/>
                </a:solidFill>
                <a:latin typeface="Calibri" pitchFamily="34" charset="0"/>
                <a:ea typeface="Calibri" pitchFamily="34" charset="-122"/>
                <a:cs typeface="Calibri" pitchFamily="34" charset="-120"/>
              </a:rPr>
              <a:t>GeoNames · OurAirports</a:t>
            </a:r>
            <a:endParaRPr lang="en-US" sz="1350" dirty="0"/>
          </a:p>
        </p:txBody>
      </p:sp>
      <p:sp>
        <p:nvSpPr>
          <p:cNvPr id="33" name="Text 26"/>
          <p:cNvSpPr txBox="1"/>
          <p:nvPr/>
        </p:nvSpPr>
        <p:spPr>
          <a:xfrm>
            <a:off x="3794760" y="4809744"/>
            <a:ext cx="2743200" cy="914400"/>
          </a:xfrm>
          <a:prstGeom prst="rect">
            <a:avLst/>
          </a:prstGeom>
          <a:noFill/>
          <a:ln/>
        </p:spPr>
        <p:txBody>
          <a:bodyPr wrap="square" lIns="0" tIns="0" rIns="0" bIns="0" rtlCol="0" anchor="ctr"/>
          <a:lstStyle/>
          <a:p>
            <a:pPr indent="0" marL="0">
              <a:buNone/>
            </a:pPr>
            <a:r>
              <a:rPr lang="en-US" sz="1300" dirty="0">
                <a:solidFill>
                  <a:srgbClr val="5E6B7A"/>
                </a:solidFill>
                <a:latin typeface="Calibri" pitchFamily="34" charset="0"/>
                <a:ea typeface="Calibri" pitchFamily="34" charset="-122"/>
                <a:cs typeface="Calibri" pitchFamily="34" charset="-120"/>
              </a:rPr>
              <a:t>20.229 градова и 531 аеродром, увоз у базу</a:t>
            </a:r>
            <a:endParaRPr lang="en-US" sz="1300" dirty="0"/>
          </a:p>
        </p:txBody>
      </p:sp>
      <p:sp>
        <p:nvSpPr>
          <p:cNvPr id="34" name="Text 27"/>
          <p:cNvSpPr txBox="1"/>
          <p:nvPr/>
        </p:nvSpPr>
        <p:spPr>
          <a:xfrm>
            <a:off x="6675120" y="4809744"/>
            <a:ext cx="731520" cy="914400"/>
          </a:xfrm>
          <a:prstGeom prst="rect">
            <a:avLst/>
          </a:prstGeom>
          <a:noFill/>
          <a:ln/>
        </p:spPr>
        <p:txBody>
          <a:bodyPr wrap="square" lIns="0" tIns="0" rIns="0" bIns="0" rtlCol="0" anchor="ctr"/>
          <a:lstStyle/>
          <a:p>
            <a:pPr algn="r" indent="0" marL="0">
              <a:buNone/>
            </a:pPr>
            <a:r>
              <a:rPr lang="en-US" sz="1300" b="1" dirty="0">
                <a:solidFill>
                  <a:srgbClr val="16385E"/>
                </a:solidFill>
                <a:latin typeface="Calibri" pitchFamily="34" charset="0"/>
                <a:ea typeface="Calibri" pitchFamily="34" charset="-122"/>
                <a:cs typeface="Calibri" pitchFamily="34" charset="-120"/>
              </a:rPr>
              <a:t>—</a:t>
            </a:r>
            <a:endParaRPr lang="en-US" sz="1300" dirty="0"/>
          </a:p>
        </p:txBody>
      </p:sp>
      <p:sp>
        <p:nvSpPr>
          <p:cNvPr id="35" name="Text 28"/>
          <p:cNvSpPr txBox="1"/>
          <p:nvPr/>
        </p:nvSpPr>
        <p:spPr>
          <a:xfrm>
            <a:off x="6675120" y="1298448"/>
            <a:ext cx="731520" cy="274320"/>
          </a:xfrm>
          <a:prstGeom prst="rect">
            <a:avLst/>
          </a:prstGeom>
          <a:noFill/>
          <a:ln/>
        </p:spPr>
        <p:txBody>
          <a:bodyPr wrap="square" lIns="0" tIns="0" rIns="0" bIns="0" rtlCol="0" anchor="t"/>
          <a:lstStyle/>
          <a:p>
            <a:pPr algn="r" indent="0" marL="0">
              <a:buNone/>
            </a:pPr>
            <a:r>
              <a:rPr lang="en-US" sz="1100" dirty="0">
                <a:solidFill>
                  <a:srgbClr val="5E6B7A"/>
                </a:solidFill>
                <a:latin typeface="Calibri" pitchFamily="34" charset="0"/>
                <a:ea typeface="Calibri" pitchFamily="34" charset="-122"/>
                <a:cs typeface="Calibri" pitchFamily="34" charset="-120"/>
              </a:rPr>
              <a:t>кеш</a:t>
            </a:r>
            <a:endParaRPr lang="en-US" sz="1100" dirty="0"/>
          </a:p>
        </p:txBody>
      </p:sp>
      <p:sp>
        <p:nvSpPr>
          <p:cNvPr id="36" name="Shape 29"/>
          <p:cNvSpPr/>
          <p:nvPr/>
        </p:nvSpPr>
        <p:spPr>
          <a:xfrm>
            <a:off x="8001000" y="1600200"/>
            <a:ext cx="3504895" cy="1965960"/>
          </a:xfrm>
          <a:prstGeom prst="roundRect">
            <a:avLst>
              <a:gd name="adj" fmla="val 5581"/>
            </a:avLst>
          </a:prstGeom>
          <a:solidFill>
            <a:srgbClr val="16385E"/>
          </a:solidFill>
          <a:ln w="12700">
            <a:solidFill>
              <a:srgbClr val="16385E"/>
            </a:solidFill>
            <a:prstDash val="solid"/>
          </a:ln>
        </p:spPr>
      </p:sp>
      <p:sp>
        <p:nvSpPr>
          <p:cNvPr id="37" name="Text 30"/>
          <p:cNvSpPr txBox="1"/>
          <p:nvPr/>
        </p:nvSpPr>
        <p:spPr>
          <a:xfrm>
            <a:off x="8275320" y="1783080"/>
            <a:ext cx="2956255"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Замена без измене алгоритма</a:t>
            </a:r>
            <a:endParaRPr lang="en-US" sz="1600" dirty="0"/>
          </a:p>
        </p:txBody>
      </p:sp>
      <p:sp>
        <p:nvSpPr>
          <p:cNvPr id="38" name="Text 31"/>
          <p:cNvSpPr txBox="1"/>
          <p:nvPr/>
        </p:nvSpPr>
        <p:spPr>
          <a:xfrm>
            <a:off x="8275320" y="2212848"/>
            <a:ext cx="2956255" cy="1463040"/>
          </a:xfrm>
          <a:prstGeom prst="rect">
            <a:avLst/>
          </a:prstGeom>
          <a:noFill/>
          <a:ln/>
        </p:spPr>
        <p:txBody>
          <a:bodyPr wrap="square" lIns="0" tIns="0" rIns="0" bIns="0" rtlCol="0" anchor="t"/>
          <a:lstStyle/>
          <a:p>
            <a:pPr indent="0" marL="0">
              <a:buNone/>
            </a:pPr>
            <a:r>
              <a:rPr lang="en-US" sz="1350" dirty="0">
                <a:solidFill>
                  <a:srgbClr val="DCE6F2"/>
                </a:solidFill>
                <a:latin typeface="Calibri" pitchFamily="34" charset="0"/>
                <a:ea typeface="Calibri" pitchFamily="34" charset="-122"/>
                <a:cs typeface="Calibri" pitchFamily="34" charset="-120"/>
              </a:rPr>
              <a:t>Amadeus је угасио бесплатни портал, а кључ за OpenTripMap није могао да се добије. Извори су замењени, а Planner Service није мењан.</a:t>
            </a:r>
            <a:endParaRPr lang="en-US" sz="1350" dirty="0"/>
          </a:p>
        </p:txBody>
      </p:sp>
      <p:sp>
        <p:nvSpPr>
          <p:cNvPr id="39" name="Shape 32"/>
          <p:cNvSpPr/>
          <p:nvPr/>
        </p:nvSpPr>
        <p:spPr>
          <a:xfrm>
            <a:off x="8001000" y="3758184"/>
            <a:ext cx="3504895" cy="1965960"/>
          </a:xfrm>
          <a:prstGeom prst="roundRect">
            <a:avLst>
              <a:gd name="adj" fmla="val 5581"/>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40" name="Text 33"/>
          <p:cNvSpPr txBox="1"/>
          <p:nvPr/>
        </p:nvSpPr>
        <p:spPr>
          <a:xfrm>
            <a:off x="8275320" y="3922776"/>
            <a:ext cx="2956255" cy="365760"/>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Рад без кључева</a:t>
            </a:r>
            <a:endParaRPr lang="en-US" sz="1600" dirty="0"/>
          </a:p>
        </p:txBody>
      </p:sp>
      <p:sp>
        <p:nvSpPr>
          <p:cNvPr id="41" name="Text 34"/>
          <p:cNvSpPr txBox="1"/>
          <p:nvPr/>
        </p:nvSpPr>
        <p:spPr>
          <a:xfrm>
            <a:off x="8275320" y="4325112"/>
            <a:ext cx="2956255" cy="132588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Сваки одговор носи поље source: duffel, cache, mock или mock-fallback. Без кључева систем ради над припремљеним подацима, а атракције се не измишљају.</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АЛГОРИТАМ ПЛАНИРАЊА</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Пет фаза, редослед вођен буџетом</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1014984" y="1874520"/>
            <a:ext cx="914400" cy="914400"/>
          </a:xfrm>
          <a:prstGeom prst="ellipse">
            <a:avLst/>
          </a:prstGeom>
          <a:solidFill>
            <a:srgbClr val="16385E"/>
          </a:solidFill>
          <a:ln w="12700">
            <a:solidFill>
              <a:srgbClr val="16385E"/>
            </a:solidFill>
            <a:prstDash val="solid"/>
          </a:ln>
        </p:spPr>
      </p:sp>
      <p:sp>
        <p:nvSpPr>
          <p:cNvPr id="8" name="Text 5"/>
          <p:cNvSpPr txBox="1"/>
          <p:nvPr/>
        </p:nvSpPr>
        <p:spPr>
          <a:xfrm>
            <a:off x="1014984" y="1874520"/>
            <a:ext cx="914400" cy="914400"/>
          </a:xfrm>
          <a:prstGeom prst="rect">
            <a:avLst/>
          </a:prstGeom>
          <a:noFill/>
          <a:ln/>
        </p:spPr>
        <p:txBody>
          <a:bodyPr wrap="square" lIns="0" tIns="0" rIns="0" bIns="0" rtlCol="0" anchor="ctr"/>
          <a:lstStyle/>
          <a:p>
            <a:pPr algn="ctr" indent="0" marL="0">
              <a:buNone/>
            </a:pPr>
            <a:r>
              <a:rPr lang="en-US" sz="2800" dirty="0">
                <a:solidFill>
                  <a:srgbClr val="FFFFFF"/>
                </a:solidFill>
                <a:latin typeface="Cambria" pitchFamily="34" charset="0"/>
                <a:ea typeface="Cambria" pitchFamily="34" charset="-122"/>
                <a:cs typeface="Cambria" pitchFamily="34" charset="-120"/>
              </a:rPr>
              <a:t>1</a:t>
            </a:r>
            <a:endParaRPr lang="en-US" sz="2800" dirty="0"/>
          </a:p>
        </p:txBody>
      </p:sp>
      <p:sp>
        <p:nvSpPr>
          <p:cNvPr id="9" name="Text 6"/>
          <p:cNvSpPr txBox="1"/>
          <p:nvPr/>
        </p:nvSpPr>
        <p:spPr>
          <a:xfrm>
            <a:off x="685800" y="2971800"/>
            <a:ext cx="1572768" cy="365760"/>
          </a:xfrm>
          <a:prstGeom prst="rect">
            <a:avLst/>
          </a:prstGeom>
          <a:noFill/>
          <a:ln/>
        </p:spPr>
        <p:txBody>
          <a:bodyPr wrap="square" lIns="0" tIns="0" rIns="0" bIns="0" rtlCol="0" anchor="t"/>
          <a:lstStyle/>
          <a:p>
            <a:pPr algn="ctr" indent="0" marL="0">
              <a:buNone/>
            </a:pPr>
            <a:r>
              <a:rPr lang="en-US" sz="1550" b="1" dirty="0">
                <a:solidFill>
                  <a:srgbClr val="102A45"/>
                </a:solidFill>
                <a:latin typeface="Calibri" pitchFamily="34" charset="0"/>
                <a:ea typeface="Calibri" pitchFamily="34" charset="-122"/>
                <a:cs typeface="Calibri" pitchFamily="34" charset="-120"/>
              </a:rPr>
              <a:t>Лет</a:t>
            </a:r>
            <a:endParaRPr lang="en-US" sz="1550" dirty="0"/>
          </a:p>
        </p:txBody>
      </p:sp>
      <p:sp>
        <p:nvSpPr>
          <p:cNvPr id="10" name="Text 7"/>
          <p:cNvSpPr txBox="1"/>
          <p:nvPr/>
        </p:nvSpPr>
        <p:spPr>
          <a:xfrm>
            <a:off x="685800" y="3337560"/>
            <a:ext cx="1572768" cy="594360"/>
          </a:xfrm>
          <a:prstGeom prst="rect">
            <a:avLst/>
          </a:prstGeom>
          <a:noFill/>
          <a:ln/>
        </p:spPr>
        <p:txBody>
          <a:bodyPr wrap="square" lIns="0" tIns="0" rIns="0" bIns="0" rtlCol="0" anchor="t"/>
          <a:lstStyle/>
          <a:p>
            <a:pPr algn="ctr" indent="0" marL="0">
              <a:buNone/>
            </a:pPr>
            <a:r>
              <a:rPr lang="en-US" sz="1250" dirty="0">
                <a:solidFill>
                  <a:srgbClr val="5E6B7A"/>
                </a:solidFill>
                <a:latin typeface="Calibri" pitchFamily="34" charset="0"/>
                <a:ea typeface="Calibri" pitchFamily="34" charset="-122"/>
                <a:cs typeface="Calibri" pitchFamily="34" charset="-120"/>
              </a:rPr>
              <a:t>рангирање понуда</a:t>
            </a:r>
            <a:endParaRPr lang="en-US" sz="1250" dirty="0"/>
          </a:p>
        </p:txBody>
      </p:sp>
      <p:pic>
        <p:nvPicPr>
          <p:cNvPr id="11" name="Image 1" descr="preencoded.png">    </p:cNvPr>
          <p:cNvPicPr>
            <a:picLocks noChangeAspect="1"/>
          </p:cNvPicPr>
          <p:nvPr/>
        </p:nvPicPr>
        <p:blipFill>
          <a:blip r:embed="rId2"/>
          <a:stretch>
            <a:fillRect/>
          </a:stretch>
        </p:blipFill>
        <p:spPr>
          <a:xfrm>
            <a:off x="2250613" y="2185416"/>
            <a:ext cx="292608" cy="292608"/>
          </a:xfrm>
          <a:prstGeom prst="rect">
            <a:avLst/>
          </a:prstGeom>
        </p:spPr>
      </p:pic>
      <p:sp>
        <p:nvSpPr>
          <p:cNvPr id="12" name="Shape 8"/>
          <p:cNvSpPr/>
          <p:nvPr/>
        </p:nvSpPr>
        <p:spPr>
          <a:xfrm>
            <a:off x="2864449" y="1874520"/>
            <a:ext cx="914400" cy="914400"/>
          </a:xfrm>
          <a:prstGeom prst="ellipse">
            <a:avLst/>
          </a:prstGeom>
          <a:solidFill>
            <a:srgbClr val="EEF3F9"/>
          </a:solidFill>
          <a:ln w="12700">
            <a:solidFill>
              <a:srgbClr val="9FB8D4"/>
            </a:solidFill>
            <a:prstDash val="solid"/>
          </a:ln>
        </p:spPr>
      </p:sp>
      <p:pic>
        <p:nvPicPr>
          <p:cNvPr id="13" name="Image 2" descr="preencoded.png">    </p:cNvPr>
          <p:cNvPicPr>
            <a:picLocks noChangeAspect="1"/>
          </p:cNvPicPr>
          <p:nvPr/>
        </p:nvPicPr>
        <p:blipFill>
          <a:blip r:embed="rId3"/>
          <a:stretch>
            <a:fillRect/>
          </a:stretch>
        </p:blipFill>
        <p:spPr>
          <a:xfrm>
            <a:off x="3093049" y="2103120"/>
            <a:ext cx="457200" cy="457200"/>
          </a:xfrm>
          <a:prstGeom prst="rect">
            <a:avLst/>
          </a:prstGeom>
        </p:spPr>
      </p:pic>
      <p:sp>
        <p:nvSpPr>
          <p:cNvPr id="14" name="Text 9"/>
          <p:cNvSpPr txBox="1"/>
          <p:nvPr/>
        </p:nvSpPr>
        <p:spPr>
          <a:xfrm>
            <a:off x="2535265" y="2971800"/>
            <a:ext cx="1572768" cy="365760"/>
          </a:xfrm>
          <a:prstGeom prst="rect">
            <a:avLst/>
          </a:prstGeom>
          <a:noFill/>
          <a:ln/>
        </p:spPr>
        <p:txBody>
          <a:bodyPr wrap="square" lIns="0" tIns="0" rIns="0" bIns="0" rtlCol="0" anchor="t"/>
          <a:lstStyle/>
          <a:p>
            <a:pPr algn="ctr" indent="0" marL="0">
              <a:buNone/>
            </a:pPr>
            <a:r>
              <a:rPr lang="en-US" sz="1550" b="1" dirty="0">
                <a:solidFill>
                  <a:srgbClr val="102A45"/>
                </a:solidFill>
                <a:latin typeface="Calibri" pitchFamily="34" charset="0"/>
                <a:ea typeface="Calibri" pitchFamily="34" charset="-122"/>
                <a:cs typeface="Calibri" pitchFamily="34" charset="-120"/>
              </a:rPr>
              <a:t>Време по данима</a:t>
            </a:r>
            <a:endParaRPr lang="en-US" sz="1550" dirty="0"/>
          </a:p>
        </p:txBody>
      </p:sp>
      <p:sp>
        <p:nvSpPr>
          <p:cNvPr id="15" name="Text 10"/>
          <p:cNvSpPr txBox="1"/>
          <p:nvPr/>
        </p:nvSpPr>
        <p:spPr>
          <a:xfrm>
            <a:off x="2535265" y="3337560"/>
            <a:ext cx="1572768" cy="594360"/>
          </a:xfrm>
          <a:prstGeom prst="rect">
            <a:avLst/>
          </a:prstGeom>
          <a:noFill/>
          <a:ln/>
        </p:spPr>
        <p:txBody>
          <a:bodyPr wrap="square" lIns="0" tIns="0" rIns="0" bIns="0" rtlCol="0" anchor="t"/>
          <a:lstStyle/>
          <a:p>
            <a:pPr algn="ctr" indent="0" marL="0">
              <a:buNone/>
            </a:pPr>
            <a:r>
              <a:rPr lang="en-US" sz="1250" dirty="0">
                <a:solidFill>
                  <a:srgbClr val="5E6B7A"/>
                </a:solidFill>
                <a:latin typeface="Calibri" pitchFamily="34" charset="0"/>
                <a:ea typeface="Calibri" pitchFamily="34" charset="-122"/>
                <a:cs typeface="Calibri" pitchFamily="34" charset="-120"/>
              </a:rPr>
              <a:t>долазак, повратак, ручак</a:t>
            </a:r>
            <a:endParaRPr lang="en-US" sz="1250" dirty="0"/>
          </a:p>
        </p:txBody>
      </p:sp>
      <p:pic>
        <p:nvPicPr>
          <p:cNvPr id="16" name="Image 3" descr="preencoded.png">    </p:cNvPr>
          <p:cNvPicPr>
            <a:picLocks noChangeAspect="1"/>
          </p:cNvPicPr>
          <p:nvPr/>
        </p:nvPicPr>
        <p:blipFill>
          <a:blip r:embed="rId4"/>
          <a:stretch>
            <a:fillRect/>
          </a:stretch>
        </p:blipFill>
        <p:spPr>
          <a:xfrm>
            <a:off x="4100078" y="2185416"/>
            <a:ext cx="292608" cy="292608"/>
          </a:xfrm>
          <a:prstGeom prst="rect">
            <a:avLst/>
          </a:prstGeom>
        </p:spPr>
      </p:pic>
      <p:sp>
        <p:nvSpPr>
          <p:cNvPr id="17" name="Shape 11"/>
          <p:cNvSpPr/>
          <p:nvPr/>
        </p:nvSpPr>
        <p:spPr>
          <a:xfrm>
            <a:off x="4713915" y="1874520"/>
            <a:ext cx="914400" cy="914400"/>
          </a:xfrm>
          <a:prstGeom prst="ellipse">
            <a:avLst/>
          </a:prstGeom>
          <a:solidFill>
            <a:srgbClr val="16385E"/>
          </a:solidFill>
          <a:ln w="12700">
            <a:solidFill>
              <a:srgbClr val="16385E"/>
            </a:solidFill>
            <a:prstDash val="solid"/>
          </a:ln>
        </p:spPr>
      </p:sp>
      <p:sp>
        <p:nvSpPr>
          <p:cNvPr id="18" name="Text 12"/>
          <p:cNvSpPr txBox="1"/>
          <p:nvPr/>
        </p:nvSpPr>
        <p:spPr>
          <a:xfrm>
            <a:off x="4713915" y="1874520"/>
            <a:ext cx="914400" cy="914400"/>
          </a:xfrm>
          <a:prstGeom prst="rect">
            <a:avLst/>
          </a:prstGeom>
          <a:noFill/>
          <a:ln/>
        </p:spPr>
        <p:txBody>
          <a:bodyPr wrap="square" lIns="0" tIns="0" rIns="0" bIns="0" rtlCol="0" anchor="ctr"/>
          <a:lstStyle/>
          <a:p>
            <a:pPr algn="ctr" indent="0" marL="0">
              <a:buNone/>
            </a:pPr>
            <a:r>
              <a:rPr lang="en-US" sz="2800" dirty="0">
                <a:solidFill>
                  <a:srgbClr val="FFFFFF"/>
                </a:solidFill>
                <a:latin typeface="Cambria" pitchFamily="34" charset="0"/>
                <a:ea typeface="Cambria" pitchFamily="34" charset="-122"/>
                <a:cs typeface="Cambria" pitchFamily="34" charset="-120"/>
              </a:rPr>
              <a:t>3</a:t>
            </a:r>
            <a:endParaRPr lang="en-US" sz="2800" dirty="0"/>
          </a:p>
        </p:txBody>
      </p:sp>
      <p:sp>
        <p:nvSpPr>
          <p:cNvPr id="19" name="Text 13"/>
          <p:cNvSpPr txBox="1"/>
          <p:nvPr/>
        </p:nvSpPr>
        <p:spPr>
          <a:xfrm>
            <a:off x="4384731" y="2971800"/>
            <a:ext cx="1572768" cy="365760"/>
          </a:xfrm>
          <a:prstGeom prst="rect">
            <a:avLst/>
          </a:prstGeom>
          <a:noFill/>
          <a:ln/>
        </p:spPr>
        <p:txBody>
          <a:bodyPr wrap="square" lIns="0" tIns="0" rIns="0" bIns="0" rtlCol="0" anchor="t"/>
          <a:lstStyle/>
          <a:p>
            <a:pPr algn="ctr" indent="0" marL="0">
              <a:buNone/>
            </a:pPr>
            <a:r>
              <a:rPr lang="en-US" sz="1550" b="1" dirty="0">
                <a:solidFill>
                  <a:srgbClr val="102A45"/>
                </a:solidFill>
                <a:latin typeface="Calibri" pitchFamily="34" charset="0"/>
                <a:ea typeface="Calibri" pitchFamily="34" charset="-122"/>
                <a:cs typeface="Calibri" pitchFamily="34" charset="-120"/>
              </a:rPr>
              <a:t>Атракције</a:t>
            </a:r>
            <a:endParaRPr lang="en-US" sz="1550" dirty="0"/>
          </a:p>
        </p:txBody>
      </p:sp>
      <p:sp>
        <p:nvSpPr>
          <p:cNvPr id="20" name="Text 14"/>
          <p:cNvSpPr txBox="1"/>
          <p:nvPr/>
        </p:nvSpPr>
        <p:spPr>
          <a:xfrm>
            <a:off x="4384731" y="3337560"/>
            <a:ext cx="1572768" cy="594360"/>
          </a:xfrm>
          <a:prstGeom prst="rect">
            <a:avLst/>
          </a:prstGeom>
          <a:noFill/>
          <a:ln/>
        </p:spPr>
        <p:txBody>
          <a:bodyPr wrap="square" lIns="0" tIns="0" rIns="0" bIns="0" rtlCol="0" anchor="t"/>
          <a:lstStyle/>
          <a:p>
            <a:pPr algn="ctr" indent="0" marL="0">
              <a:buNone/>
            </a:pPr>
            <a:r>
              <a:rPr lang="en-US" sz="1250" dirty="0">
                <a:solidFill>
                  <a:srgbClr val="5E6B7A"/>
                </a:solidFill>
                <a:latin typeface="Calibri" pitchFamily="34" charset="0"/>
                <a:ea typeface="Calibri" pitchFamily="34" charset="-122"/>
                <a:cs typeface="Calibri" pitchFamily="34" charset="-120"/>
              </a:rPr>
              <a:t>избор и процена улазница</a:t>
            </a:r>
            <a:endParaRPr lang="en-US" sz="1250" dirty="0"/>
          </a:p>
        </p:txBody>
      </p:sp>
      <p:pic>
        <p:nvPicPr>
          <p:cNvPr id="21" name="Image 4" descr="preencoded.png">    </p:cNvPr>
          <p:cNvPicPr>
            <a:picLocks noChangeAspect="1"/>
          </p:cNvPicPr>
          <p:nvPr/>
        </p:nvPicPr>
        <p:blipFill>
          <a:blip r:embed="rId5"/>
          <a:stretch>
            <a:fillRect/>
          </a:stretch>
        </p:blipFill>
        <p:spPr>
          <a:xfrm>
            <a:off x="5949544" y="2185416"/>
            <a:ext cx="292608" cy="292608"/>
          </a:xfrm>
          <a:prstGeom prst="rect">
            <a:avLst/>
          </a:prstGeom>
        </p:spPr>
      </p:pic>
      <p:sp>
        <p:nvSpPr>
          <p:cNvPr id="22" name="Shape 15"/>
          <p:cNvSpPr/>
          <p:nvPr/>
        </p:nvSpPr>
        <p:spPr>
          <a:xfrm>
            <a:off x="6563380" y="1874520"/>
            <a:ext cx="914400" cy="914400"/>
          </a:xfrm>
          <a:prstGeom prst="ellipse">
            <a:avLst/>
          </a:prstGeom>
          <a:solidFill>
            <a:srgbClr val="16385E"/>
          </a:solidFill>
          <a:ln w="12700">
            <a:solidFill>
              <a:srgbClr val="16385E"/>
            </a:solidFill>
            <a:prstDash val="solid"/>
          </a:ln>
        </p:spPr>
      </p:sp>
      <p:sp>
        <p:nvSpPr>
          <p:cNvPr id="23" name="Text 16"/>
          <p:cNvSpPr txBox="1"/>
          <p:nvPr/>
        </p:nvSpPr>
        <p:spPr>
          <a:xfrm>
            <a:off x="6563380" y="1874520"/>
            <a:ext cx="914400" cy="914400"/>
          </a:xfrm>
          <a:prstGeom prst="rect">
            <a:avLst/>
          </a:prstGeom>
          <a:noFill/>
          <a:ln/>
        </p:spPr>
        <p:txBody>
          <a:bodyPr wrap="square" lIns="0" tIns="0" rIns="0" bIns="0" rtlCol="0" anchor="ctr"/>
          <a:lstStyle/>
          <a:p>
            <a:pPr algn="ctr" indent="0" marL="0">
              <a:buNone/>
            </a:pPr>
            <a:r>
              <a:rPr lang="en-US" sz="2800" dirty="0">
                <a:solidFill>
                  <a:srgbClr val="FFFFFF"/>
                </a:solidFill>
                <a:latin typeface="Cambria" pitchFamily="34" charset="0"/>
                <a:ea typeface="Cambria" pitchFamily="34" charset="-122"/>
                <a:cs typeface="Cambria" pitchFamily="34" charset="-120"/>
              </a:rPr>
              <a:t>2</a:t>
            </a:r>
            <a:endParaRPr lang="en-US" sz="2800" dirty="0"/>
          </a:p>
        </p:txBody>
      </p:sp>
      <p:sp>
        <p:nvSpPr>
          <p:cNvPr id="24" name="Text 17"/>
          <p:cNvSpPr txBox="1"/>
          <p:nvPr/>
        </p:nvSpPr>
        <p:spPr>
          <a:xfrm>
            <a:off x="6234196" y="2971800"/>
            <a:ext cx="1572768" cy="365760"/>
          </a:xfrm>
          <a:prstGeom prst="rect">
            <a:avLst/>
          </a:prstGeom>
          <a:noFill/>
          <a:ln/>
        </p:spPr>
        <p:txBody>
          <a:bodyPr wrap="square" lIns="0" tIns="0" rIns="0" bIns="0" rtlCol="0" anchor="t"/>
          <a:lstStyle/>
          <a:p>
            <a:pPr algn="ctr" indent="0" marL="0">
              <a:buNone/>
            </a:pPr>
            <a:r>
              <a:rPr lang="en-US" sz="1550" b="1" dirty="0">
                <a:solidFill>
                  <a:srgbClr val="102A45"/>
                </a:solidFill>
                <a:latin typeface="Calibri" pitchFamily="34" charset="0"/>
                <a:ea typeface="Calibri" pitchFamily="34" charset="-122"/>
                <a:cs typeface="Calibri" pitchFamily="34" charset="-120"/>
              </a:rPr>
              <a:t>Смештај</a:t>
            </a:r>
            <a:endParaRPr lang="en-US" sz="1550" dirty="0"/>
          </a:p>
        </p:txBody>
      </p:sp>
      <p:sp>
        <p:nvSpPr>
          <p:cNvPr id="25" name="Text 18"/>
          <p:cNvSpPr txBox="1"/>
          <p:nvPr/>
        </p:nvSpPr>
        <p:spPr>
          <a:xfrm>
            <a:off x="6234196" y="3337560"/>
            <a:ext cx="1572768" cy="594360"/>
          </a:xfrm>
          <a:prstGeom prst="rect">
            <a:avLst/>
          </a:prstGeom>
          <a:noFill/>
          <a:ln/>
        </p:spPr>
        <p:txBody>
          <a:bodyPr wrap="square" lIns="0" tIns="0" rIns="0" bIns="0" rtlCol="0" anchor="t"/>
          <a:lstStyle/>
          <a:p>
            <a:pPr algn="ctr" indent="0" marL="0">
              <a:buNone/>
            </a:pPr>
            <a:r>
              <a:rPr lang="en-US" sz="1250" dirty="0">
                <a:solidFill>
                  <a:srgbClr val="5E6B7A"/>
                </a:solidFill>
                <a:latin typeface="Calibri" pitchFamily="34" charset="0"/>
                <a:ea typeface="Calibri" pitchFamily="34" charset="-122"/>
                <a:cs typeface="Calibri" pitchFamily="34" charset="-120"/>
              </a:rPr>
              <a:t>у преосталом буџету</a:t>
            </a:r>
            <a:endParaRPr lang="en-US" sz="1250" dirty="0"/>
          </a:p>
        </p:txBody>
      </p:sp>
      <p:pic>
        <p:nvPicPr>
          <p:cNvPr id="26" name="Image 5" descr="preencoded.png">    </p:cNvPr>
          <p:cNvPicPr>
            <a:picLocks noChangeAspect="1"/>
          </p:cNvPicPr>
          <p:nvPr/>
        </p:nvPicPr>
        <p:blipFill>
          <a:blip r:embed="rId6"/>
          <a:stretch>
            <a:fillRect/>
          </a:stretch>
        </p:blipFill>
        <p:spPr>
          <a:xfrm>
            <a:off x="7799009" y="2185416"/>
            <a:ext cx="292608" cy="292608"/>
          </a:xfrm>
          <a:prstGeom prst="rect">
            <a:avLst/>
          </a:prstGeom>
        </p:spPr>
      </p:pic>
      <p:sp>
        <p:nvSpPr>
          <p:cNvPr id="27" name="Shape 19"/>
          <p:cNvSpPr/>
          <p:nvPr/>
        </p:nvSpPr>
        <p:spPr>
          <a:xfrm>
            <a:off x="8412846" y="1874520"/>
            <a:ext cx="914400" cy="914400"/>
          </a:xfrm>
          <a:prstGeom prst="ellipse">
            <a:avLst/>
          </a:prstGeom>
          <a:solidFill>
            <a:srgbClr val="16385E"/>
          </a:solidFill>
          <a:ln w="12700">
            <a:solidFill>
              <a:srgbClr val="16385E"/>
            </a:solidFill>
            <a:prstDash val="solid"/>
          </a:ln>
        </p:spPr>
      </p:sp>
      <p:sp>
        <p:nvSpPr>
          <p:cNvPr id="28" name="Text 20"/>
          <p:cNvSpPr txBox="1"/>
          <p:nvPr/>
        </p:nvSpPr>
        <p:spPr>
          <a:xfrm>
            <a:off x="8412846" y="1874520"/>
            <a:ext cx="914400" cy="914400"/>
          </a:xfrm>
          <a:prstGeom prst="rect">
            <a:avLst/>
          </a:prstGeom>
          <a:noFill/>
          <a:ln/>
        </p:spPr>
        <p:txBody>
          <a:bodyPr wrap="square" lIns="0" tIns="0" rIns="0" bIns="0" rtlCol="0" anchor="ctr"/>
          <a:lstStyle/>
          <a:p>
            <a:pPr algn="ctr" indent="0" marL="0">
              <a:buNone/>
            </a:pPr>
            <a:r>
              <a:rPr lang="en-US" sz="2800" dirty="0">
                <a:solidFill>
                  <a:srgbClr val="FFFFFF"/>
                </a:solidFill>
                <a:latin typeface="Cambria" pitchFamily="34" charset="0"/>
                <a:ea typeface="Cambria" pitchFamily="34" charset="-122"/>
                <a:cs typeface="Cambria" pitchFamily="34" charset="-120"/>
              </a:rPr>
              <a:t>4</a:t>
            </a:r>
            <a:endParaRPr lang="en-US" sz="2800" dirty="0"/>
          </a:p>
        </p:txBody>
      </p:sp>
      <p:sp>
        <p:nvSpPr>
          <p:cNvPr id="29" name="Text 21"/>
          <p:cNvSpPr txBox="1"/>
          <p:nvPr/>
        </p:nvSpPr>
        <p:spPr>
          <a:xfrm>
            <a:off x="8083662" y="2971800"/>
            <a:ext cx="1572768" cy="365760"/>
          </a:xfrm>
          <a:prstGeom prst="rect">
            <a:avLst/>
          </a:prstGeom>
          <a:noFill/>
          <a:ln/>
        </p:spPr>
        <p:txBody>
          <a:bodyPr wrap="square" lIns="0" tIns="0" rIns="0" bIns="0" rtlCol="0" anchor="t"/>
          <a:lstStyle/>
          <a:p>
            <a:pPr algn="ctr" indent="0" marL="0">
              <a:buNone/>
            </a:pPr>
            <a:r>
              <a:rPr lang="en-US" sz="1550" b="1" dirty="0">
                <a:solidFill>
                  <a:srgbClr val="102A45"/>
                </a:solidFill>
                <a:latin typeface="Calibri" pitchFamily="34" charset="0"/>
                <a:ea typeface="Calibri" pitchFamily="34" charset="-122"/>
                <a:cs typeface="Calibri" pitchFamily="34" charset="-120"/>
              </a:rPr>
              <a:t>Расподела</a:t>
            </a:r>
            <a:endParaRPr lang="en-US" sz="1550" dirty="0"/>
          </a:p>
        </p:txBody>
      </p:sp>
      <p:sp>
        <p:nvSpPr>
          <p:cNvPr id="30" name="Text 22"/>
          <p:cNvSpPr txBox="1"/>
          <p:nvPr/>
        </p:nvSpPr>
        <p:spPr>
          <a:xfrm>
            <a:off x="8083662" y="3337560"/>
            <a:ext cx="1572768" cy="594360"/>
          </a:xfrm>
          <a:prstGeom prst="rect">
            <a:avLst/>
          </a:prstGeom>
          <a:noFill/>
          <a:ln/>
        </p:spPr>
        <p:txBody>
          <a:bodyPr wrap="square" lIns="0" tIns="0" rIns="0" bIns="0" rtlCol="0" anchor="t"/>
          <a:lstStyle/>
          <a:p>
            <a:pPr algn="ctr" indent="0" marL="0">
              <a:buNone/>
            </a:pPr>
            <a:r>
              <a:rPr lang="en-US" sz="1250" dirty="0">
                <a:solidFill>
                  <a:srgbClr val="5E6B7A"/>
                </a:solidFill>
                <a:latin typeface="Calibri" pitchFamily="34" charset="0"/>
                <a:ea typeface="Calibri" pitchFamily="34" charset="-122"/>
                <a:cs typeface="Calibri" pitchFamily="34" charset="-120"/>
              </a:rPr>
              <a:t>k-means++ по данима</a:t>
            </a:r>
            <a:endParaRPr lang="en-US" sz="1250" dirty="0"/>
          </a:p>
        </p:txBody>
      </p:sp>
      <p:pic>
        <p:nvPicPr>
          <p:cNvPr id="31" name="Image 6" descr="preencoded.png">    </p:cNvPr>
          <p:cNvPicPr>
            <a:picLocks noChangeAspect="1"/>
          </p:cNvPicPr>
          <p:nvPr/>
        </p:nvPicPr>
        <p:blipFill>
          <a:blip r:embed="rId7"/>
          <a:stretch>
            <a:fillRect/>
          </a:stretch>
        </p:blipFill>
        <p:spPr>
          <a:xfrm>
            <a:off x="9648474" y="2185416"/>
            <a:ext cx="292608" cy="292608"/>
          </a:xfrm>
          <a:prstGeom prst="rect">
            <a:avLst/>
          </a:prstGeom>
        </p:spPr>
      </p:pic>
      <p:sp>
        <p:nvSpPr>
          <p:cNvPr id="32" name="Shape 23"/>
          <p:cNvSpPr/>
          <p:nvPr/>
        </p:nvSpPr>
        <p:spPr>
          <a:xfrm>
            <a:off x="10262311" y="1874520"/>
            <a:ext cx="914400" cy="914400"/>
          </a:xfrm>
          <a:prstGeom prst="ellipse">
            <a:avLst/>
          </a:prstGeom>
          <a:solidFill>
            <a:srgbClr val="16385E"/>
          </a:solidFill>
          <a:ln w="12700">
            <a:solidFill>
              <a:srgbClr val="16385E"/>
            </a:solidFill>
            <a:prstDash val="solid"/>
          </a:ln>
        </p:spPr>
      </p:sp>
      <p:sp>
        <p:nvSpPr>
          <p:cNvPr id="33" name="Text 24"/>
          <p:cNvSpPr txBox="1"/>
          <p:nvPr/>
        </p:nvSpPr>
        <p:spPr>
          <a:xfrm>
            <a:off x="10262311" y="1874520"/>
            <a:ext cx="914400" cy="914400"/>
          </a:xfrm>
          <a:prstGeom prst="rect">
            <a:avLst/>
          </a:prstGeom>
          <a:noFill/>
          <a:ln/>
        </p:spPr>
        <p:txBody>
          <a:bodyPr wrap="square" lIns="0" tIns="0" rIns="0" bIns="0" rtlCol="0" anchor="ctr"/>
          <a:lstStyle/>
          <a:p>
            <a:pPr algn="ctr" indent="0" marL="0">
              <a:buNone/>
            </a:pPr>
            <a:r>
              <a:rPr lang="en-US" sz="2800" dirty="0">
                <a:solidFill>
                  <a:srgbClr val="FFFFFF"/>
                </a:solidFill>
                <a:latin typeface="Cambria" pitchFamily="34" charset="0"/>
                <a:ea typeface="Cambria" pitchFamily="34" charset="-122"/>
                <a:cs typeface="Cambria" pitchFamily="34" charset="-120"/>
              </a:rPr>
              <a:t>5</a:t>
            </a:r>
            <a:endParaRPr lang="en-US" sz="2800" dirty="0"/>
          </a:p>
        </p:txBody>
      </p:sp>
      <p:sp>
        <p:nvSpPr>
          <p:cNvPr id="34" name="Text 25"/>
          <p:cNvSpPr txBox="1"/>
          <p:nvPr/>
        </p:nvSpPr>
        <p:spPr>
          <a:xfrm>
            <a:off x="9933127" y="2971800"/>
            <a:ext cx="1572768" cy="365760"/>
          </a:xfrm>
          <a:prstGeom prst="rect">
            <a:avLst/>
          </a:prstGeom>
          <a:noFill/>
          <a:ln/>
        </p:spPr>
        <p:txBody>
          <a:bodyPr wrap="square" lIns="0" tIns="0" rIns="0" bIns="0" rtlCol="0" anchor="t"/>
          <a:lstStyle/>
          <a:p>
            <a:pPr algn="ctr" indent="0" marL="0">
              <a:buNone/>
            </a:pPr>
            <a:r>
              <a:rPr lang="en-US" sz="1550" b="1" dirty="0">
                <a:solidFill>
                  <a:srgbClr val="102A45"/>
                </a:solidFill>
                <a:latin typeface="Calibri" pitchFamily="34" charset="0"/>
                <a:ea typeface="Calibri" pitchFamily="34" charset="-122"/>
                <a:cs typeface="Calibri" pitchFamily="34" charset="-120"/>
              </a:rPr>
              <a:t>Редослед</a:t>
            </a:r>
            <a:endParaRPr lang="en-US" sz="1550" dirty="0"/>
          </a:p>
        </p:txBody>
      </p:sp>
      <p:sp>
        <p:nvSpPr>
          <p:cNvPr id="35" name="Text 26"/>
          <p:cNvSpPr txBox="1"/>
          <p:nvPr/>
        </p:nvSpPr>
        <p:spPr>
          <a:xfrm>
            <a:off x="9933127" y="3337560"/>
            <a:ext cx="1572768" cy="594360"/>
          </a:xfrm>
          <a:prstGeom prst="rect">
            <a:avLst/>
          </a:prstGeom>
          <a:noFill/>
          <a:ln/>
        </p:spPr>
        <p:txBody>
          <a:bodyPr wrap="square" lIns="0" tIns="0" rIns="0" bIns="0" rtlCol="0" anchor="t"/>
          <a:lstStyle/>
          <a:p>
            <a:pPr algn="ctr" indent="0" marL="0">
              <a:buNone/>
            </a:pPr>
            <a:r>
              <a:rPr lang="en-US" sz="1250" dirty="0">
                <a:solidFill>
                  <a:srgbClr val="5E6B7A"/>
                </a:solidFill>
                <a:latin typeface="Calibri" pitchFamily="34" charset="0"/>
                <a:ea typeface="Calibri" pitchFamily="34" charset="-122"/>
                <a:cs typeface="Calibri" pitchFamily="34" charset="-120"/>
              </a:rPr>
              <a:t>најближи сусед + 2-opt</a:t>
            </a:r>
            <a:endParaRPr lang="en-US" sz="1250" dirty="0"/>
          </a:p>
        </p:txBody>
      </p:sp>
      <p:sp>
        <p:nvSpPr>
          <p:cNvPr id="36" name="Shape 27"/>
          <p:cNvSpPr/>
          <p:nvPr/>
        </p:nvSpPr>
        <p:spPr>
          <a:xfrm>
            <a:off x="685800" y="4343400"/>
            <a:ext cx="6675120" cy="1600200"/>
          </a:xfrm>
          <a:prstGeom prst="roundRect">
            <a:avLst>
              <a:gd name="adj" fmla="val 6857"/>
            </a:avLst>
          </a:prstGeom>
          <a:solidFill>
            <a:srgbClr val="EEF3F9"/>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37" name="Shape 28"/>
          <p:cNvSpPr/>
          <p:nvPr/>
        </p:nvSpPr>
        <p:spPr>
          <a:xfrm>
            <a:off x="960120" y="4617720"/>
            <a:ext cx="548640" cy="548640"/>
          </a:xfrm>
          <a:prstGeom prst="ellipse">
            <a:avLst/>
          </a:prstGeom>
          <a:solidFill>
            <a:srgbClr val="16385E"/>
          </a:solidFill>
          <a:ln w="12700">
            <a:solidFill>
              <a:srgbClr val="16385E"/>
            </a:solidFill>
            <a:prstDash val="solid"/>
          </a:ln>
        </p:spPr>
      </p:sp>
      <p:pic>
        <p:nvPicPr>
          <p:cNvPr id="38" name="Image 7" descr="preencoded.png">    </p:cNvPr>
          <p:cNvPicPr>
            <a:picLocks noChangeAspect="1"/>
          </p:cNvPicPr>
          <p:nvPr/>
        </p:nvPicPr>
        <p:blipFill>
          <a:blip r:embed="rId8"/>
          <a:stretch>
            <a:fillRect/>
          </a:stretch>
        </p:blipFill>
        <p:spPr>
          <a:xfrm>
            <a:off x="1091794" y="4749394"/>
            <a:ext cx="285293" cy="285293"/>
          </a:xfrm>
          <a:prstGeom prst="rect">
            <a:avLst/>
          </a:prstGeom>
        </p:spPr>
      </p:pic>
      <p:sp>
        <p:nvSpPr>
          <p:cNvPr id="39" name="Text 29"/>
          <p:cNvSpPr txBox="1"/>
          <p:nvPr/>
        </p:nvSpPr>
        <p:spPr>
          <a:xfrm>
            <a:off x="1691640" y="4553712"/>
            <a:ext cx="5394960" cy="365760"/>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Зашто атракције пре смештаја?</a:t>
            </a:r>
            <a:endParaRPr lang="en-US" sz="1600" dirty="0"/>
          </a:p>
        </p:txBody>
      </p:sp>
      <p:sp>
        <p:nvSpPr>
          <p:cNvPr id="40" name="Text 30"/>
          <p:cNvSpPr txBox="1"/>
          <p:nvPr/>
        </p:nvSpPr>
        <p:spPr>
          <a:xfrm>
            <a:off x="1691640" y="4937760"/>
            <a:ext cx="5440680" cy="91440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Препоручени смештај мора да стане у износ који остаје после лета и улазница, а улазнице су познате тек када су атракције изабране.</a:t>
            </a:r>
            <a:endParaRPr lang="en-US" sz="1350" dirty="0"/>
          </a:p>
        </p:txBody>
      </p:sp>
      <p:sp>
        <p:nvSpPr>
          <p:cNvPr id="41" name="Text 31"/>
          <p:cNvSpPr txBox="1"/>
          <p:nvPr/>
        </p:nvSpPr>
        <p:spPr>
          <a:xfrm>
            <a:off x="7726680" y="4434840"/>
            <a:ext cx="1828800" cy="731520"/>
          </a:xfrm>
          <a:prstGeom prst="rect">
            <a:avLst/>
          </a:prstGeom>
          <a:noFill/>
          <a:ln/>
        </p:spPr>
        <p:txBody>
          <a:bodyPr wrap="square" lIns="0" tIns="0" rIns="0" bIns="0" rtlCol="0" anchor="t"/>
          <a:lstStyle/>
          <a:p>
            <a:pPr indent="0" marL="0">
              <a:buNone/>
            </a:pPr>
            <a:r>
              <a:rPr lang="en-US" sz="3200" dirty="0">
                <a:solidFill>
                  <a:srgbClr val="16385E"/>
                </a:solidFill>
                <a:latin typeface="Cambria" pitchFamily="34" charset="0"/>
                <a:ea typeface="Cambria" pitchFamily="34" charset="-122"/>
                <a:cs typeface="Cambria" pitchFamily="34" charset="-120"/>
              </a:rPr>
              <a:t>2 / 4 / 6</a:t>
            </a:r>
            <a:endParaRPr lang="en-US" sz="3200" dirty="0"/>
          </a:p>
        </p:txBody>
      </p:sp>
      <p:sp>
        <p:nvSpPr>
          <p:cNvPr id="42" name="Text 32"/>
          <p:cNvSpPr txBox="1"/>
          <p:nvPr/>
        </p:nvSpPr>
        <p:spPr>
          <a:xfrm>
            <a:off x="7726680" y="5166360"/>
            <a:ext cx="1783080" cy="640080"/>
          </a:xfrm>
          <a:prstGeom prst="rect">
            <a:avLst/>
          </a:prstGeom>
          <a:noFill/>
          <a:ln/>
        </p:spPr>
        <p:txBody>
          <a:bodyPr wrap="square" lIns="0" tIns="0" rIns="0" bIns="0" rtlCol="0" anchor="t"/>
          <a:lstStyle/>
          <a:p>
            <a:pPr indent="0" marL="0">
              <a:buNone/>
            </a:pPr>
            <a:r>
              <a:rPr lang="en-US" sz="1300" dirty="0">
                <a:solidFill>
                  <a:srgbClr val="5E6B7A"/>
                </a:solidFill>
                <a:latin typeface="Calibri" pitchFamily="34" charset="0"/>
                <a:ea typeface="Calibri" pitchFamily="34" charset="-122"/>
                <a:cs typeface="Calibri" pitchFamily="34" charset="-120"/>
              </a:rPr>
              <a:t>активности дневно по темпу</a:t>
            </a:r>
            <a:endParaRPr lang="en-US" sz="1300" dirty="0"/>
          </a:p>
        </p:txBody>
      </p:sp>
      <p:sp>
        <p:nvSpPr>
          <p:cNvPr id="43" name="Text 33"/>
          <p:cNvSpPr txBox="1"/>
          <p:nvPr/>
        </p:nvSpPr>
        <p:spPr>
          <a:xfrm>
            <a:off x="9692640" y="4434840"/>
            <a:ext cx="1828800" cy="731520"/>
          </a:xfrm>
          <a:prstGeom prst="rect">
            <a:avLst/>
          </a:prstGeom>
          <a:noFill/>
          <a:ln/>
        </p:spPr>
        <p:txBody>
          <a:bodyPr wrap="square" lIns="0" tIns="0" rIns="0" bIns="0" rtlCol="0" anchor="t"/>
          <a:lstStyle/>
          <a:p>
            <a:pPr indent="0" marL="0">
              <a:buNone/>
            </a:pPr>
            <a:r>
              <a:rPr lang="en-US" sz="3200" dirty="0">
                <a:solidFill>
                  <a:srgbClr val="16385E"/>
                </a:solidFill>
                <a:latin typeface="Cambria" pitchFamily="34" charset="0"/>
                <a:ea typeface="Cambria" pitchFamily="34" charset="-122"/>
                <a:cs typeface="Cambria" pitchFamily="34" charset="-120"/>
              </a:rPr>
              <a:t>≤ 14</a:t>
            </a:r>
            <a:endParaRPr lang="en-US" sz="3200" dirty="0"/>
          </a:p>
        </p:txBody>
      </p:sp>
      <p:sp>
        <p:nvSpPr>
          <p:cNvPr id="44" name="Text 34"/>
          <p:cNvSpPr txBox="1"/>
          <p:nvPr/>
        </p:nvSpPr>
        <p:spPr>
          <a:xfrm>
            <a:off x="9692640" y="5166360"/>
            <a:ext cx="1783080" cy="640080"/>
          </a:xfrm>
          <a:prstGeom prst="rect">
            <a:avLst/>
          </a:prstGeom>
          <a:noFill/>
          <a:ln/>
        </p:spPr>
        <p:txBody>
          <a:bodyPr wrap="square" lIns="0" tIns="0" rIns="0" bIns="0" rtlCol="0" anchor="t"/>
          <a:lstStyle/>
          <a:p>
            <a:pPr indent="0" marL="0">
              <a:buNone/>
            </a:pPr>
            <a:r>
              <a:rPr lang="en-US" sz="1300" dirty="0">
                <a:solidFill>
                  <a:srgbClr val="5E6B7A"/>
                </a:solidFill>
                <a:latin typeface="Calibri" pitchFamily="34" charset="0"/>
                <a:ea typeface="Calibri" pitchFamily="34" charset="-122"/>
                <a:cs typeface="Calibri" pitchFamily="34" charset="-120"/>
              </a:rPr>
              <a:t>дана по путовању</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ФАЗЕ 1–3</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Рангирање понуда и избор атракција</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685800" y="1600200"/>
            <a:ext cx="3429000" cy="4023360"/>
          </a:xfrm>
          <a:prstGeom prst="roundRect">
            <a:avLst>
              <a:gd name="adj" fmla="val 32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8" name="Shape 5"/>
          <p:cNvSpPr/>
          <p:nvPr/>
        </p:nvSpPr>
        <p:spPr>
          <a:xfrm>
            <a:off x="960120" y="1874520"/>
            <a:ext cx="548640" cy="548640"/>
          </a:xfrm>
          <a:prstGeom prst="ellipse">
            <a:avLst/>
          </a:prstGeom>
          <a:solidFill>
            <a:srgbClr val="16385E"/>
          </a:solidFill>
          <a:ln w="12700">
            <a:solidFill>
              <a:srgbClr val="16385E"/>
            </a:solidFill>
            <a:prstDash val="solid"/>
          </a:ln>
        </p:spPr>
      </p:sp>
      <p:pic>
        <p:nvPicPr>
          <p:cNvPr id="9" name="Image 1" descr="preencoded.png">    </p:cNvPr>
          <p:cNvPicPr>
            <a:picLocks noChangeAspect="1"/>
          </p:cNvPicPr>
          <p:nvPr/>
        </p:nvPicPr>
        <p:blipFill>
          <a:blip r:embed="rId2"/>
          <a:stretch>
            <a:fillRect/>
          </a:stretch>
        </p:blipFill>
        <p:spPr>
          <a:xfrm>
            <a:off x="1091794" y="2006194"/>
            <a:ext cx="285293" cy="285293"/>
          </a:xfrm>
          <a:prstGeom prst="rect">
            <a:avLst/>
          </a:prstGeom>
        </p:spPr>
      </p:pic>
      <p:sp>
        <p:nvSpPr>
          <p:cNvPr id="10" name="Text 6"/>
          <p:cNvSpPr txBox="1"/>
          <p:nvPr/>
        </p:nvSpPr>
        <p:spPr>
          <a:xfrm>
            <a:off x="1645920" y="1874520"/>
            <a:ext cx="2240280" cy="548640"/>
          </a:xfrm>
          <a:prstGeom prst="rect">
            <a:avLst/>
          </a:prstGeom>
          <a:noFill/>
          <a:ln/>
        </p:spPr>
        <p:txBody>
          <a:bodyPr wrap="square" lIns="0" tIns="0" rIns="0" bIns="0" rtlCol="0" anchor="ctr"/>
          <a:lstStyle/>
          <a:p>
            <a:pPr indent="0" marL="0">
              <a:buNone/>
            </a:pPr>
            <a:r>
              <a:rPr lang="en-US" sz="1700" b="1" dirty="0">
                <a:solidFill>
                  <a:srgbClr val="102A45"/>
                </a:solidFill>
                <a:latin typeface="Calibri" pitchFamily="34" charset="0"/>
                <a:ea typeface="Calibri" pitchFamily="34" charset="-122"/>
                <a:cs typeface="Calibri" pitchFamily="34" charset="-120"/>
              </a:rPr>
              <a:t>Фаза 1 · Летови</a:t>
            </a:r>
            <a:endParaRPr lang="en-US" sz="1700" dirty="0"/>
          </a:p>
        </p:txBody>
      </p:sp>
      <p:sp>
        <p:nvSpPr>
          <p:cNvPr id="11" name="Shape 7"/>
          <p:cNvSpPr/>
          <p:nvPr/>
        </p:nvSpPr>
        <p:spPr>
          <a:xfrm>
            <a:off x="960120" y="2651760"/>
            <a:ext cx="2880360" cy="868680"/>
          </a:xfrm>
          <a:prstGeom prst="roundRect">
            <a:avLst>
              <a:gd name="adj" fmla="val 8421"/>
            </a:avLst>
          </a:prstGeom>
          <a:solidFill>
            <a:srgbClr val="EEF3F9"/>
          </a:solidFill>
          <a:ln w="12700">
            <a:solidFill>
              <a:srgbClr val="EEF3F9"/>
            </a:solidFill>
            <a:prstDash val="solid"/>
          </a:ln>
        </p:spPr>
      </p:sp>
      <p:sp>
        <p:nvSpPr>
          <p:cNvPr id="12" name="Text 8"/>
          <p:cNvSpPr txBox="1"/>
          <p:nvPr/>
        </p:nvSpPr>
        <p:spPr>
          <a:xfrm>
            <a:off x="1005840" y="2651760"/>
            <a:ext cx="2788920" cy="868680"/>
          </a:xfrm>
          <a:prstGeom prst="rect">
            <a:avLst/>
          </a:prstGeom>
          <a:noFill/>
          <a:ln/>
        </p:spPr>
        <p:txBody>
          <a:bodyPr wrap="square" lIns="0" tIns="0" rIns="0" bIns="0" rtlCol="0" anchor="ctr"/>
          <a:lstStyle/>
          <a:p>
            <a:pPr algn="ctr" indent="0" marL="0">
              <a:buNone/>
            </a:pPr>
            <a:r>
              <a:rPr lang="en-US" sz="1550" i="1" dirty="0">
                <a:solidFill>
                  <a:srgbClr val="16385E"/>
                </a:solidFill>
                <a:latin typeface="Cambria" pitchFamily="34" charset="0"/>
                <a:ea typeface="Cambria" pitchFamily="34" charset="-122"/>
                <a:cs typeface="Cambria" pitchFamily="34" charset="-120"/>
              </a:rPr>
              <a:t>s = w</a:t>
            </a:r>
            <a:pPr algn="ctr" indent="0" marL="0">
              <a:buNone/>
            </a:pPr>
            <a:r>
              <a:rPr lang="en-US" sz="1550" i="1" baseline="-40000" dirty="0">
                <a:solidFill>
                  <a:srgbClr val="16385E"/>
                </a:solidFill>
                <a:latin typeface="Cambria" pitchFamily="34" charset="0"/>
                <a:ea typeface="Cambria" pitchFamily="34" charset="-122"/>
                <a:cs typeface="Cambria" pitchFamily="34" charset="-120"/>
              </a:rPr>
              <a:t>c</a:t>
            </a:r>
            <a:pPr algn="ctr" indent="0" marL="0">
              <a:buNone/>
            </a:pPr>
            <a:r>
              <a:rPr lang="en-US" sz="1550" i="1" dirty="0">
                <a:solidFill>
                  <a:srgbClr val="16385E"/>
                </a:solidFill>
                <a:latin typeface="Cambria" pitchFamily="34" charset="0"/>
                <a:ea typeface="Cambria" pitchFamily="34" charset="-122"/>
                <a:cs typeface="Cambria" pitchFamily="34" charset="-120"/>
              </a:rPr>
              <a:t> · c + w</a:t>
            </a:r>
            <a:pPr algn="ctr" indent="0" marL="0">
              <a:buNone/>
            </a:pPr>
            <a:r>
              <a:rPr lang="en-US" sz="1550" i="1" baseline="-40000" dirty="0">
                <a:solidFill>
                  <a:srgbClr val="16385E"/>
                </a:solidFill>
                <a:latin typeface="Cambria" pitchFamily="34" charset="0"/>
                <a:ea typeface="Cambria" pitchFamily="34" charset="-122"/>
                <a:cs typeface="Cambria" pitchFamily="34" charset="-120"/>
              </a:rPr>
              <a:t>t</a:t>
            </a:r>
            <a:pPr algn="ctr" indent="0" marL="0">
              <a:buNone/>
            </a:pPr>
            <a:r>
              <a:rPr lang="en-US" sz="1550" i="1" dirty="0">
                <a:solidFill>
                  <a:srgbClr val="16385E"/>
                </a:solidFill>
                <a:latin typeface="Cambria" pitchFamily="34" charset="0"/>
                <a:ea typeface="Cambria" pitchFamily="34" charset="-122"/>
                <a:cs typeface="Cambria" pitchFamily="34" charset="-120"/>
              </a:rPr>
              <a:t> · t + 0,1 · k</a:t>
            </a:r>
            <a:endParaRPr lang="en-US" sz="1550" dirty="0"/>
          </a:p>
        </p:txBody>
      </p:sp>
      <p:sp>
        <p:nvSpPr>
          <p:cNvPr id="13" name="Text 9"/>
          <p:cNvSpPr txBox="1"/>
          <p:nvPr/>
        </p:nvSpPr>
        <p:spPr>
          <a:xfrm>
            <a:off x="960120" y="3794760"/>
            <a:ext cx="288036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E6B7A"/>
                </a:solidFill>
                <a:latin typeface="Calibri" pitchFamily="34" charset="0"/>
                <a:ea typeface="Calibri" pitchFamily="34" charset="-122"/>
                <a:cs typeface="Calibri" pitchFamily="34" charset="-120"/>
              </a:rPr>
              <a:t>мин–макс нормализација у скупу</a:t>
            </a:r>
            <a:endParaRPr lang="en-US" sz="1400" dirty="0"/>
          </a:p>
          <a:p>
            <a:pPr marL="342900" indent="-342900">
              <a:spcAft>
                <a:spcPts val="800"/>
              </a:spcAft>
              <a:buSzPct val="100000"/>
              <a:buChar char="•"/>
            </a:pPr>
            <a:r>
              <a:rPr lang="en-US" sz="1400" dirty="0">
                <a:solidFill>
                  <a:srgbClr val="5E6B7A"/>
                </a:solidFill>
                <a:latin typeface="Calibri" pitchFamily="34" charset="0"/>
                <a:ea typeface="Calibri" pitchFamily="34" charset="-122"/>
                <a:cs typeface="Calibri" pitchFamily="34" charset="-120"/>
              </a:rPr>
              <a:t>најјефтиније (1; 0), најбрже (0; 1), баланс (0,5; 0,5)</a:t>
            </a:r>
            <a:endParaRPr lang="en-US" sz="1400" dirty="0"/>
          </a:p>
          <a:p>
            <a:pPr marL="342900" indent="-342900">
              <a:spcAft>
                <a:spcPts val="800"/>
              </a:spcAft>
              <a:buSzPct val="100000"/>
              <a:buChar char="•"/>
            </a:pPr>
            <a:r>
              <a:rPr lang="en-US" sz="1400" dirty="0">
                <a:solidFill>
                  <a:srgbClr val="5E6B7A"/>
                </a:solidFill>
                <a:latin typeface="Calibri" pitchFamily="34" charset="0"/>
                <a:ea typeface="Calibri" pitchFamily="34" charset="-122"/>
                <a:cs typeface="Calibri" pitchFamily="34" charset="-120"/>
              </a:rPr>
              <a:t>казна 0,1 по преседању</a:t>
            </a:r>
            <a:endParaRPr lang="en-US" sz="1400" dirty="0"/>
          </a:p>
        </p:txBody>
      </p:sp>
      <p:sp>
        <p:nvSpPr>
          <p:cNvPr id="14" name="Shape 10"/>
          <p:cNvSpPr/>
          <p:nvPr/>
        </p:nvSpPr>
        <p:spPr>
          <a:xfrm>
            <a:off x="4498848" y="1600200"/>
            <a:ext cx="3429000" cy="4023360"/>
          </a:xfrm>
          <a:prstGeom prst="roundRect">
            <a:avLst>
              <a:gd name="adj" fmla="val 32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5" name="Shape 11"/>
          <p:cNvSpPr/>
          <p:nvPr/>
        </p:nvSpPr>
        <p:spPr>
          <a:xfrm>
            <a:off x="4773168" y="1874520"/>
            <a:ext cx="548640" cy="548640"/>
          </a:xfrm>
          <a:prstGeom prst="ellipse">
            <a:avLst/>
          </a:prstGeom>
          <a:solidFill>
            <a:srgbClr val="16385E"/>
          </a:solidFill>
          <a:ln w="12700">
            <a:solidFill>
              <a:srgbClr val="16385E"/>
            </a:solidFill>
            <a:prstDash val="solid"/>
          </a:ln>
        </p:spPr>
      </p:sp>
      <p:pic>
        <p:nvPicPr>
          <p:cNvPr id="16" name="Image 2" descr="preencoded.png">    </p:cNvPr>
          <p:cNvPicPr>
            <a:picLocks noChangeAspect="1"/>
          </p:cNvPicPr>
          <p:nvPr/>
        </p:nvPicPr>
        <p:blipFill>
          <a:blip r:embed="rId3"/>
          <a:stretch>
            <a:fillRect/>
          </a:stretch>
        </p:blipFill>
        <p:spPr>
          <a:xfrm>
            <a:off x="4904842" y="2006194"/>
            <a:ext cx="285293" cy="285293"/>
          </a:xfrm>
          <a:prstGeom prst="rect">
            <a:avLst/>
          </a:prstGeom>
        </p:spPr>
      </p:pic>
      <p:sp>
        <p:nvSpPr>
          <p:cNvPr id="17" name="Text 12"/>
          <p:cNvSpPr txBox="1"/>
          <p:nvPr/>
        </p:nvSpPr>
        <p:spPr>
          <a:xfrm>
            <a:off x="5458968" y="1874520"/>
            <a:ext cx="2240280" cy="548640"/>
          </a:xfrm>
          <a:prstGeom prst="rect">
            <a:avLst/>
          </a:prstGeom>
          <a:noFill/>
          <a:ln/>
        </p:spPr>
        <p:txBody>
          <a:bodyPr wrap="square" lIns="0" tIns="0" rIns="0" bIns="0" rtlCol="0" anchor="ctr"/>
          <a:lstStyle/>
          <a:p>
            <a:pPr indent="0" marL="0">
              <a:buNone/>
            </a:pPr>
            <a:r>
              <a:rPr lang="en-US" sz="1700" b="1" dirty="0">
                <a:solidFill>
                  <a:srgbClr val="102A45"/>
                </a:solidFill>
                <a:latin typeface="Calibri" pitchFamily="34" charset="0"/>
                <a:ea typeface="Calibri" pitchFamily="34" charset="-122"/>
                <a:cs typeface="Calibri" pitchFamily="34" charset="-120"/>
              </a:rPr>
              <a:t>Фаза 2 · Смештај</a:t>
            </a:r>
            <a:endParaRPr lang="en-US" sz="1700" dirty="0"/>
          </a:p>
        </p:txBody>
      </p:sp>
      <p:sp>
        <p:nvSpPr>
          <p:cNvPr id="18" name="Shape 13"/>
          <p:cNvSpPr/>
          <p:nvPr/>
        </p:nvSpPr>
        <p:spPr>
          <a:xfrm>
            <a:off x="4773168" y="2651760"/>
            <a:ext cx="2880360" cy="868680"/>
          </a:xfrm>
          <a:prstGeom prst="roundRect">
            <a:avLst>
              <a:gd name="adj" fmla="val 8421"/>
            </a:avLst>
          </a:prstGeom>
          <a:solidFill>
            <a:srgbClr val="EEF3F9"/>
          </a:solidFill>
          <a:ln w="12700">
            <a:solidFill>
              <a:srgbClr val="EEF3F9"/>
            </a:solidFill>
            <a:prstDash val="solid"/>
          </a:ln>
        </p:spPr>
      </p:sp>
      <p:sp>
        <p:nvSpPr>
          <p:cNvPr id="19" name="Text 14"/>
          <p:cNvSpPr txBox="1"/>
          <p:nvPr/>
        </p:nvSpPr>
        <p:spPr>
          <a:xfrm>
            <a:off x="4818888" y="2651760"/>
            <a:ext cx="2788920" cy="868680"/>
          </a:xfrm>
          <a:prstGeom prst="rect">
            <a:avLst/>
          </a:prstGeom>
          <a:noFill/>
          <a:ln/>
        </p:spPr>
        <p:txBody>
          <a:bodyPr wrap="square" lIns="0" tIns="0" rIns="0" bIns="0" rtlCol="0" anchor="ctr"/>
          <a:lstStyle/>
          <a:p>
            <a:pPr algn="ctr" indent="0" marL="0">
              <a:buNone/>
            </a:pPr>
            <a:r>
              <a:rPr lang="en-US" sz="1550" i="1" dirty="0">
                <a:solidFill>
                  <a:srgbClr val="16385E"/>
                </a:solidFill>
                <a:latin typeface="Cambria" pitchFamily="34" charset="0"/>
                <a:ea typeface="Cambria" pitchFamily="34" charset="-122"/>
                <a:cs typeface="Cambria" pitchFamily="34" charset="-120"/>
              </a:rPr>
              <a:t>s = 0,5 · c + 0,3 · d + 0,2 · (1 − q)</a:t>
            </a:r>
            <a:endParaRPr lang="en-US" sz="1550" dirty="0"/>
          </a:p>
        </p:txBody>
      </p:sp>
      <p:sp>
        <p:nvSpPr>
          <p:cNvPr id="20" name="Text 15"/>
          <p:cNvSpPr txBox="1"/>
          <p:nvPr/>
        </p:nvSpPr>
        <p:spPr>
          <a:xfrm>
            <a:off x="4773168" y="3794760"/>
            <a:ext cx="288036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E6B7A"/>
                </a:solidFill>
                <a:latin typeface="Calibri" pitchFamily="34" charset="0"/>
                <a:ea typeface="Calibri" pitchFamily="34" charset="-122"/>
                <a:cs typeface="Calibri" pitchFamily="34" charset="-120"/>
              </a:rPr>
              <a:t>филтер по типу, оцени и цени</a:t>
            </a:r>
            <a:endParaRPr lang="en-US" sz="1400" dirty="0"/>
          </a:p>
          <a:p>
            <a:pPr marL="342900" indent="-342900">
              <a:spcAft>
                <a:spcPts val="800"/>
              </a:spcAft>
              <a:buSzPct val="100000"/>
              <a:buChar char="•"/>
            </a:pPr>
            <a:r>
              <a:rPr lang="en-US" sz="1400" dirty="0">
                <a:solidFill>
                  <a:srgbClr val="5E6B7A"/>
                </a:solidFill>
                <a:latin typeface="Calibri" pitchFamily="34" charset="0"/>
                <a:ea typeface="Calibri" pitchFamily="34" charset="-122"/>
                <a:cs typeface="Calibri" pitchFamily="34" charset="-120"/>
              </a:rPr>
              <a:t>препорука у преосталом буџету</a:t>
            </a:r>
            <a:endParaRPr lang="en-US" sz="1400" dirty="0"/>
          </a:p>
          <a:p>
            <a:pPr marL="342900" indent="-342900">
              <a:spcAft>
                <a:spcPts val="800"/>
              </a:spcAft>
              <a:buSzPct val="100000"/>
              <a:buChar char="•"/>
            </a:pPr>
            <a:r>
              <a:rPr lang="en-US" sz="1400" dirty="0">
                <a:solidFill>
                  <a:srgbClr val="5E6B7A"/>
                </a:solidFill>
                <a:latin typeface="Calibri" pitchFamily="34" charset="0"/>
                <a:ea typeface="Calibri" pitchFamily="34" charset="-122"/>
                <a:cs typeface="Calibri" pitchFamily="34" charset="-120"/>
              </a:rPr>
              <a:t>без оцене: средња вредност 0,5</a:t>
            </a:r>
            <a:endParaRPr lang="en-US" sz="1400" dirty="0"/>
          </a:p>
        </p:txBody>
      </p:sp>
      <p:sp>
        <p:nvSpPr>
          <p:cNvPr id="21" name="Shape 16"/>
          <p:cNvSpPr/>
          <p:nvPr/>
        </p:nvSpPr>
        <p:spPr>
          <a:xfrm>
            <a:off x="8311896" y="1600200"/>
            <a:ext cx="3429000" cy="4023360"/>
          </a:xfrm>
          <a:prstGeom prst="roundRect">
            <a:avLst>
              <a:gd name="adj" fmla="val 32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22" name="Shape 17"/>
          <p:cNvSpPr/>
          <p:nvPr/>
        </p:nvSpPr>
        <p:spPr>
          <a:xfrm>
            <a:off x="8586216" y="1874520"/>
            <a:ext cx="548640" cy="548640"/>
          </a:xfrm>
          <a:prstGeom prst="ellipse">
            <a:avLst/>
          </a:prstGeom>
          <a:solidFill>
            <a:srgbClr val="16385E"/>
          </a:solidFill>
          <a:ln w="12700">
            <a:solidFill>
              <a:srgbClr val="16385E"/>
            </a:solidFill>
            <a:prstDash val="solid"/>
          </a:ln>
        </p:spPr>
      </p:sp>
      <p:pic>
        <p:nvPicPr>
          <p:cNvPr id="23" name="Image 3" descr="preencoded.png">    </p:cNvPr>
          <p:cNvPicPr>
            <a:picLocks noChangeAspect="1"/>
          </p:cNvPicPr>
          <p:nvPr/>
        </p:nvPicPr>
        <p:blipFill>
          <a:blip r:embed="rId4"/>
          <a:stretch>
            <a:fillRect/>
          </a:stretch>
        </p:blipFill>
        <p:spPr>
          <a:xfrm>
            <a:off x="8717890" y="2006194"/>
            <a:ext cx="285293" cy="285293"/>
          </a:xfrm>
          <a:prstGeom prst="rect">
            <a:avLst/>
          </a:prstGeom>
        </p:spPr>
      </p:pic>
      <p:sp>
        <p:nvSpPr>
          <p:cNvPr id="24" name="Text 18"/>
          <p:cNvSpPr txBox="1"/>
          <p:nvPr/>
        </p:nvSpPr>
        <p:spPr>
          <a:xfrm>
            <a:off x="9272016" y="1874520"/>
            <a:ext cx="2240280" cy="548640"/>
          </a:xfrm>
          <a:prstGeom prst="rect">
            <a:avLst/>
          </a:prstGeom>
          <a:noFill/>
          <a:ln/>
        </p:spPr>
        <p:txBody>
          <a:bodyPr wrap="square" lIns="0" tIns="0" rIns="0" bIns="0" rtlCol="0" anchor="ctr"/>
          <a:lstStyle/>
          <a:p>
            <a:pPr indent="0" marL="0">
              <a:buNone/>
            </a:pPr>
            <a:r>
              <a:rPr lang="en-US" sz="1700" b="1" dirty="0">
                <a:solidFill>
                  <a:srgbClr val="102A45"/>
                </a:solidFill>
                <a:latin typeface="Calibri" pitchFamily="34" charset="0"/>
                <a:ea typeface="Calibri" pitchFamily="34" charset="-122"/>
                <a:cs typeface="Calibri" pitchFamily="34" charset="-120"/>
              </a:rPr>
              <a:t>Фаза 3 · Атракције</a:t>
            </a:r>
            <a:endParaRPr lang="en-US" sz="1700" dirty="0"/>
          </a:p>
        </p:txBody>
      </p:sp>
      <p:sp>
        <p:nvSpPr>
          <p:cNvPr id="25" name="Shape 19"/>
          <p:cNvSpPr/>
          <p:nvPr/>
        </p:nvSpPr>
        <p:spPr>
          <a:xfrm>
            <a:off x="8586216" y="2651760"/>
            <a:ext cx="2880360" cy="868680"/>
          </a:xfrm>
          <a:prstGeom prst="roundRect">
            <a:avLst>
              <a:gd name="adj" fmla="val 8421"/>
            </a:avLst>
          </a:prstGeom>
          <a:solidFill>
            <a:srgbClr val="EEF3F9"/>
          </a:solidFill>
          <a:ln w="12700">
            <a:solidFill>
              <a:srgbClr val="EEF3F9"/>
            </a:solidFill>
            <a:prstDash val="solid"/>
          </a:ln>
        </p:spPr>
      </p:sp>
      <p:sp>
        <p:nvSpPr>
          <p:cNvPr id="26" name="Text 20"/>
          <p:cNvSpPr txBox="1"/>
          <p:nvPr/>
        </p:nvSpPr>
        <p:spPr>
          <a:xfrm>
            <a:off x="8631936" y="2651760"/>
            <a:ext cx="2788920" cy="868680"/>
          </a:xfrm>
          <a:prstGeom prst="rect">
            <a:avLst/>
          </a:prstGeom>
          <a:noFill/>
          <a:ln/>
        </p:spPr>
        <p:txBody>
          <a:bodyPr wrap="square" lIns="0" tIns="0" rIns="0" bIns="0" rtlCol="0" anchor="ctr"/>
          <a:lstStyle/>
          <a:p>
            <a:pPr algn="ctr" indent="0" marL="0">
              <a:buNone/>
            </a:pPr>
            <a:r>
              <a:rPr lang="en-US" sz="1550" i="1" dirty="0">
                <a:solidFill>
                  <a:srgbClr val="16385E"/>
                </a:solidFill>
                <a:latin typeface="Cambria" pitchFamily="34" charset="0"/>
                <a:ea typeface="Cambria" pitchFamily="34" charset="-122"/>
                <a:cs typeface="Cambria" pitchFamily="34" charset="-120"/>
              </a:rPr>
              <a:t>s = 0,7 · поклапање</a:t>
            </a:r>
            <a:pPr algn="ctr" indent="0" marL="0">
              <a:buNone/>
            </a:pPr>
            <a:endParaRPr lang="en-US" sz="1550" dirty="0"/>
          </a:p>
          <a:p>
            <a:pPr algn="ctr" indent="0" marL="0">
              <a:buNone/>
            </a:pPr>
            <a:r>
              <a:rPr lang="en-US" sz="1550" i="1" dirty="0">
                <a:solidFill>
                  <a:srgbClr val="16385E"/>
                </a:solidFill>
                <a:latin typeface="Cambria" pitchFamily="34" charset="0"/>
                <a:ea typeface="Cambria" pitchFamily="34" charset="-122"/>
                <a:cs typeface="Cambria" pitchFamily="34" charset="-120"/>
              </a:rPr>
              <a:t>+ 0,3 · популарност</a:t>
            </a:r>
            <a:endParaRPr lang="en-US" sz="1550" dirty="0"/>
          </a:p>
        </p:txBody>
      </p:sp>
      <p:sp>
        <p:nvSpPr>
          <p:cNvPr id="27" name="Text 21"/>
          <p:cNvSpPr txBox="1"/>
          <p:nvPr/>
        </p:nvSpPr>
        <p:spPr>
          <a:xfrm>
            <a:off x="8586216" y="3794760"/>
            <a:ext cx="288036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E6B7A"/>
                </a:solidFill>
                <a:latin typeface="Calibri" pitchFamily="34" charset="0"/>
                <a:ea typeface="Calibri" pitchFamily="34" charset="-122"/>
                <a:cs typeface="Calibri" pitchFamily="34" charset="-120"/>
              </a:rPr>
              <a:t>похлепан избор у два пролаза</a:t>
            </a:r>
            <a:endParaRPr lang="en-US" sz="1400" dirty="0"/>
          </a:p>
          <a:p>
            <a:pPr marL="342900" indent="-342900">
              <a:spcAft>
                <a:spcPts val="800"/>
              </a:spcAft>
              <a:buSzPct val="100000"/>
              <a:buChar char="•"/>
            </a:pPr>
            <a:r>
              <a:rPr lang="en-US" sz="1400" dirty="0">
                <a:solidFill>
                  <a:srgbClr val="5E6B7A"/>
                </a:solidFill>
                <a:latin typeface="Calibri" pitchFamily="34" charset="0"/>
                <a:ea typeface="Calibri" pitchFamily="34" charset="-122"/>
                <a:cs typeface="Calibri" pitchFamily="34" charset="-120"/>
              </a:rPr>
              <a:t>прво атракције из интересовања</a:t>
            </a:r>
            <a:endParaRPr lang="en-US" sz="1400" dirty="0"/>
          </a:p>
          <a:p>
            <a:pPr marL="342900" indent="-342900">
              <a:spcAft>
                <a:spcPts val="800"/>
              </a:spcAft>
              <a:buSzPct val="100000"/>
              <a:buChar char="•"/>
            </a:pPr>
            <a:r>
              <a:rPr lang="en-US" sz="1400" dirty="0">
                <a:solidFill>
                  <a:srgbClr val="5E6B7A"/>
                </a:solidFill>
                <a:latin typeface="Calibri" pitchFamily="34" charset="0"/>
                <a:ea typeface="Calibri" pitchFamily="34" charset="-122"/>
                <a:cs typeface="Calibri" pitchFamily="34" charset="-120"/>
              </a:rPr>
              <a:t>циљни број сразмеран времену дана</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ФАЗЕ 4–5</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Расподела по данима и редослед обиласка</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685800" y="1527048"/>
            <a:ext cx="5449824" cy="4271264"/>
          </a:xfrm>
          <a:prstGeom prst="roundRect">
            <a:avLst>
              <a:gd name="adj" fmla="val 2141"/>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pic>
        <p:nvPicPr>
          <p:cNvPr id="8" name="Image 1" descr="">    </p:cNvPr>
          <p:cNvPicPr>
            <a:picLocks noChangeAspect="1"/>
          </p:cNvPicPr>
          <p:nvPr/>
        </p:nvPicPr>
        <p:blipFill>
          <a:blip r:embed="rId2"/>
          <a:stretch>
            <a:fillRect/>
          </a:stretch>
        </p:blipFill>
        <p:spPr>
          <a:xfrm>
            <a:off x="758952" y="1600200"/>
            <a:ext cx="5303520" cy="4124960"/>
          </a:xfrm>
          <a:prstGeom prst="rect">
            <a:avLst/>
          </a:prstGeom>
        </p:spPr>
      </p:pic>
      <p:sp>
        <p:nvSpPr>
          <p:cNvPr id="9" name="Shape 5"/>
          <p:cNvSpPr/>
          <p:nvPr/>
        </p:nvSpPr>
        <p:spPr>
          <a:xfrm>
            <a:off x="6537960" y="1618488"/>
            <a:ext cx="457200" cy="457200"/>
          </a:xfrm>
          <a:prstGeom prst="ellipse">
            <a:avLst/>
          </a:prstGeom>
          <a:solidFill>
            <a:srgbClr val="16385E"/>
          </a:solidFill>
          <a:ln w="12700">
            <a:solidFill>
              <a:srgbClr val="16385E"/>
            </a:solidFill>
            <a:prstDash val="solid"/>
          </a:ln>
        </p:spPr>
      </p:sp>
      <p:sp>
        <p:nvSpPr>
          <p:cNvPr id="10" name="Text 6"/>
          <p:cNvSpPr txBox="1"/>
          <p:nvPr/>
        </p:nvSpPr>
        <p:spPr>
          <a:xfrm>
            <a:off x="6537960" y="16184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7"/>
          <p:cNvSpPr txBox="1"/>
          <p:nvPr/>
        </p:nvSpPr>
        <p:spPr>
          <a:xfrm>
            <a:off x="7178040" y="1600200"/>
            <a:ext cx="4327855" cy="347472"/>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Групе по близини</a:t>
            </a:r>
            <a:endParaRPr lang="en-US" sz="1600" dirty="0"/>
          </a:p>
        </p:txBody>
      </p:sp>
      <p:sp>
        <p:nvSpPr>
          <p:cNvPr id="12" name="Text 8"/>
          <p:cNvSpPr txBox="1"/>
          <p:nvPr/>
        </p:nvSpPr>
        <p:spPr>
          <a:xfrm>
            <a:off x="7178040" y="1947672"/>
            <a:ext cx="4327855" cy="685800"/>
          </a:xfrm>
          <a:prstGeom prst="rect">
            <a:avLst/>
          </a:prstGeom>
          <a:noFill/>
          <a:ln/>
        </p:spPr>
        <p:txBody>
          <a:bodyPr wrap="square" lIns="0" tIns="0" rIns="0" bIns="0" rtlCol="0" anchor="t"/>
          <a:lstStyle/>
          <a:p>
            <a:pPr indent="0" marL="0">
              <a:buNone/>
            </a:pPr>
            <a:r>
              <a:rPr lang="en-US" sz="1300" dirty="0">
                <a:solidFill>
                  <a:srgbClr val="5E6B7A"/>
                </a:solidFill>
                <a:latin typeface="Calibri" pitchFamily="34" charset="0"/>
                <a:ea typeface="Calibri" pitchFamily="34" charset="-122"/>
                <a:cs typeface="Calibri" pitchFamily="34" charset="-120"/>
              </a:rPr>
              <a:t>k-means++ са Haversine растојањем, пет понављања, задржава се најкомпактнији резултат.</a:t>
            </a:r>
            <a:endParaRPr lang="en-US" sz="1300" dirty="0"/>
          </a:p>
        </p:txBody>
      </p:sp>
      <p:sp>
        <p:nvSpPr>
          <p:cNvPr id="13" name="Shape 9"/>
          <p:cNvSpPr/>
          <p:nvPr/>
        </p:nvSpPr>
        <p:spPr>
          <a:xfrm>
            <a:off x="6537960" y="2697480"/>
            <a:ext cx="457200" cy="457200"/>
          </a:xfrm>
          <a:prstGeom prst="ellipse">
            <a:avLst/>
          </a:prstGeom>
          <a:solidFill>
            <a:srgbClr val="16385E"/>
          </a:solidFill>
          <a:ln w="12700">
            <a:solidFill>
              <a:srgbClr val="16385E"/>
            </a:solidFill>
            <a:prstDash val="solid"/>
          </a:ln>
        </p:spPr>
      </p:sp>
      <p:sp>
        <p:nvSpPr>
          <p:cNvPr id="14" name="Text 10"/>
          <p:cNvSpPr txBox="1"/>
          <p:nvPr/>
        </p:nvSpPr>
        <p:spPr>
          <a:xfrm>
            <a:off x="6537960" y="2697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1"/>
          <p:cNvSpPr txBox="1"/>
          <p:nvPr/>
        </p:nvSpPr>
        <p:spPr>
          <a:xfrm>
            <a:off x="7178040" y="2679192"/>
            <a:ext cx="4327855" cy="347472"/>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Капацитет дана</a:t>
            </a:r>
            <a:endParaRPr lang="en-US" sz="1600" dirty="0"/>
          </a:p>
        </p:txBody>
      </p:sp>
      <p:sp>
        <p:nvSpPr>
          <p:cNvPr id="16" name="Text 12"/>
          <p:cNvSpPr txBox="1"/>
          <p:nvPr/>
        </p:nvSpPr>
        <p:spPr>
          <a:xfrm>
            <a:off x="7178040" y="3026664"/>
            <a:ext cx="4327855" cy="685800"/>
          </a:xfrm>
          <a:prstGeom prst="rect">
            <a:avLst/>
          </a:prstGeom>
          <a:noFill/>
          <a:ln/>
        </p:spPr>
        <p:txBody>
          <a:bodyPr wrap="square" lIns="0" tIns="0" rIns="0" bIns="0" rtlCol="0" anchor="t"/>
          <a:lstStyle/>
          <a:p>
            <a:pPr indent="0" marL="0">
              <a:buNone/>
            </a:pPr>
            <a:r>
              <a:rPr lang="en-US" sz="1300" dirty="0">
                <a:solidFill>
                  <a:srgbClr val="5E6B7A"/>
                </a:solidFill>
                <a:latin typeface="Calibri" pitchFamily="34" charset="0"/>
                <a:ea typeface="Calibri" pitchFamily="34" charset="-122"/>
                <a:cs typeface="Calibri" pitchFamily="34" charset="-120"/>
              </a:rPr>
              <a:t>Ребалансирање премешта атракцију уз најмање повећање растојања. Број група је број дана који је заиста потребан.</a:t>
            </a:r>
            <a:endParaRPr lang="en-US" sz="1300" dirty="0"/>
          </a:p>
        </p:txBody>
      </p:sp>
      <p:sp>
        <p:nvSpPr>
          <p:cNvPr id="17" name="Shape 13"/>
          <p:cNvSpPr/>
          <p:nvPr/>
        </p:nvSpPr>
        <p:spPr>
          <a:xfrm>
            <a:off x="6537960" y="3776472"/>
            <a:ext cx="457200" cy="457200"/>
          </a:xfrm>
          <a:prstGeom prst="ellipse">
            <a:avLst/>
          </a:prstGeom>
          <a:solidFill>
            <a:srgbClr val="16385E"/>
          </a:solidFill>
          <a:ln w="12700">
            <a:solidFill>
              <a:srgbClr val="16385E"/>
            </a:solidFill>
            <a:prstDash val="solid"/>
          </a:ln>
        </p:spPr>
      </p:sp>
      <p:sp>
        <p:nvSpPr>
          <p:cNvPr id="18" name="Text 14"/>
          <p:cNvSpPr txBox="1"/>
          <p:nvPr/>
        </p:nvSpPr>
        <p:spPr>
          <a:xfrm>
            <a:off x="6537960" y="37764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5"/>
          <p:cNvSpPr txBox="1"/>
          <p:nvPr/>
        </p:nvSpPr>
        <p:spPr>
          <a:xfrm>
            <a:off x="7178040" y="3758184"/>
            <a:ext cx="4327855" cy="347472"/>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Редослед од смештаја</a:t>
            </a:r>
            <a:endParaRPr lang="en-US" sz="1600" dirty="0"/>
          </a:p>
        </p:txBody>
      </p:sp>
      <p:sp>
        <p:nvSpPr>
          <p:cNvPr id="20" name="Text 16"/>
          <p:cNvSpPr txBox="1"/>
          <p:nvPr/>
        </p:nvSpPr>
        <p:spPr>
          <a:xfrm>
            <a:off x="7178040" y="4105656"/>
            <a:ext cx="4327855" cy="685800"/>
          </a:xfrm>
          <a:prstGeom prst="rect">
            <a:avLst/>
          </a:prstGeom>
          <a:noFill/>
          <a:ln/>
        </p:spPr>
        <p:txBody>
          <a:bodyPr wrap="square" lIns="0" tIns="0" rIns="0" bIns="0" rtlCol="0" anchor="t"/>
          <a:lstStyle/>
          <a:p>
            <a:pPr indent="0" marL="0">
              <a:buNone/>
            </a:pPr>
            <a:r>
              <a:rPr lang="en-US" sz="1300" dirty="0">
                <a:solidFill>
                  <a:srgbClr val="5E6B7A"/>
                </a:solidFill>
                <a:latin typeface="Calibri" pitchFamily="34" charset="0"/>
                <a:ea typeface="Calibri" pitchFamily="34" charset="-122"/>
                <a:cs typeface="Calibri" pitchFamily="34" charset="-120"/>
              </a:rPr>
              <a:t>Најближи сусед, затим 2-opt који се прихвата само ако скраћује пут и поштује радно време.</a:t>
            </a:r>
            <a:endParaRPr lang="en-US" sz="1300" dirty="0"/>
          </a:p>
        </p:txBody>
      </p:sp>
      <p:sp>
        <p:nvSpPr>
          <p:cNvPr id="21" name="Shape 17"/>
          <p:cNvSpPr/>
          <p:nvPr/>
        </p:nvSpPr>
        <p:spPr>
          <a:xfrm>
            <a:off x="6537960" y="4855464"/>
            <a:ext cx="457200" cy="457200"/>
          </a:xfrm>
          <a:prstGeom prst="ellipse">
            <a:avLst/>
          </a:prstGeom>
          <a:solidFill>
            <a:srgbClr val="16385E"/>
          </a:solidFill>
          <a:ln w="12700">
            <a:solidFill>
              <a:srgbClr val="16385E"/>
            </a:solidFill>
            <a:prstDash val="solid"/>
          </a:ln>
        </p:spPr>
      </p:sp>
      <p:sp>
        <p:nvSpPr>
          <p:cNvPr id="22" name="Text 18"/>
          <p:cNvSpPr txBox="1"/>
          <p:nvPr/>
        </p:nvSpPr>
        <p:spPr>
          <a:xfrm>
            <a:off x="6537960" y="485546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19"/>
          <p:cNvSpPr txBox="1"/>
          <p:nvPr/>
        </p:nvSpPr>
        <p:spPr>
          <a:xfrm>
            <a:off x="7178040" y="4837176"/>
            <a:ext cx="4327855" cy="347472"/>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Поправка</a:t>
            </a:r>
            <a:endParaRPr lang="en-US" sz="1600" dirty="0"/>
          </a:p>
        </p:txBody>
      </p:sp>
      <p:sp>
        <p:nvSpPr>
          <p:cNvPr id="24" name="Text 20"/>
          <p:cNvSpPr txBox="1"/>
          <p:nvPr/>
        </p:nvSpPr>
        <p:spPr>
          <a:xfrm>
            <a:off x="7178040" y="5184648"/>
            <a:ext cx="4327855" cy="685800"/>
          </a:xfrm>
          <a:prstGeom prst="rect">
            <a:avLst/>
          </a:prstGeom>
          <a:noFill/>
          <a:ln/>
        </p:spPr>
        <p:txBody>
          <a:bodyPr wrap="square" lIns="0" tIns="0" rIns="0" bIns="0" rtlCol="0" anchor="t"/>
          <a:lstStyle/>
          <a:p>
            <a:pPr indent="0" marL="0">
              <a:buNone/>
            </a:pPr>
            <a:r>
              <a:rPr lang="en-US" sz="1300" dirty="0">
                <a:solidFill>
                  <a:srgbClr val="5E6B7A"/>
                </a:solidFill>
                <a:latin typeface="Calibri" pitchFamily="34" charset="0"/>
                <a:ea typeface="Calibri" pitchFamily="34" charset="-122"/>
                <a:cs typeface="Calibri" pitchFamily="34" charset="-120"/>
              </a:rPr>
              <a:t>Друга позиција, па други дан, па уклањање најслабије оцењене атракције, уз објашњење.</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ИМПЛЕМЕНТАЦИЈА</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Када се подаци мењају док корисник ради</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685800" y="1600200"/>
            <a:ext cx="5239512" cy="1828800"/>
          </a:xfrm>
          <a:prstGeom prst="roundRect">
            <a:avLst>
              <a:gd name="adj" fmla="val 60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8" name="Shape 5"/>
          <p:cNvSpPr/>
          <p:nvPr/>
        </p:nvSpPr>
        <p:spPr>
          <a:xfrm>
            <a:off x="960120" y="1892808"/>
            <a:ext cx="566928" cy="566928"/>
          </a:xfrm>
          <a:prstGeom prst="ellipse">
            <a:avLst/>
          </a:prstGeom>
          <a:solidFill>
            <a:srgbClr val="16385E"/>
          </a:solidFill>
          <a:ln w="12700">
            <a:solidFill>
              <a:srgbClr val="16385E"/>
            </a:solidFill>
            <a:prstDash val="solid"/>
          </a:ln>
        </p:spPr>
      </p:sp>
      <p:pic>
        <p:nvPicPr>
          <p:cNvPr id="9" name="Image 1" descr="preencoded.png">    </p:cNvPr>
          <p:cNvPicPr>
            <a:picLocks noChangeAspect="1"/>
          </p:cNvPicPr>
          <p:nvPr/>
        </p:nvPicPr>
        <p:blipFill>
          <a:blip r:embed="rId2"/>
          <a:stretch>
            <a:fillRect/>
          </a:stretch>
        </p:blipFill>
        <p:spPr>
          <a:xfrm>
            <a:off x="1096183" y="2028871"/>
            <a:ext cx="294803" cy="294803"/>
          </a:xfrm>
          <a:prstGeom prst="rect">
            <a:avLst/>
          </a:prstGeom>
        </p:spPr>
      </p:pic>
      <p:sp>
        <p:nvSpPr>
          <p:cNvPr id="10" name="Text 6"/>
          <p:cNvSpPr txBox="1"/>
          <p:nvPr/>
        </p:nvSpPr>
        <p:spPr>
          <a:xfrm>
            <a:off x="1783080" y="1874520"/>
            <a:ext cx="3867912" cy="365760"/>
          </a:xfrm>
          <a:prstGeom prst="rect">
            <a:avLst/>
          </a:prstGeom>
          <a:noFill/>
          <a:ln/>
        </p:spPr>
        <p:txBody>
          <a:bodyPr wrap="square" lIns="0" tIns="0" rIns="0" bIns="0" rtlCol="0" anchor="t"/>
          <a:lstStyle/>
          <a:p>
            <a:pPr indent="0" marL="0">
              <a:buNone/>
            </a:pPr>
            <a:r>
              <a:rPr lang="en-US" sz="1700" b="1" dirty="0">
                <a:solidFill>
                  <a:srgbClr val="102A45"/>
                </a:solidFill>
                <a:latin typeface="Calibri" pitchFamily="34" charset="0"/>
                <a:ea typeface="Calibri" pitchFamily="34" charset="-122"/>
                <a:cs typeface="Calibri" pitchFamily="34" charset="-120"/>
              </a:rPr>
              <a:t>Истекла понуда</a:t>
            </a:r>
            <a:endParaRPr lang="en-US" sz="1700" dirty="0"/>
          </a:p>
        </p:txBody>
      </p:sp>
      <p:sp>
        <p:nvSpPr>
          <p:cNvPr id="11" name="Text 7"/>
          <p:cNvSpPr txBox="1"/>
          <p:nvPr/>
        </p:nvSpPr>
        <p:spPr>
          <a:xfrm>
            <a:off x="1783080" y="2286000"/>
            <a:ext cx="3867912" cy="91440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Понуда важи 20–30 минута. Исти лет тражи се поново по отиску: компанија, бројеви летова и времена полазака.</a:t>
            </a:r>
            <a:endParaRPr lang="en-US" sz="1350" dirty="0"/>
          </a:p>
        </p:txBody>
      </p:sp>
      <p:sp>
        <p:nvSpPr>
          <p:cNvPr id="12" name="Shape 8"/>
          <p:cNvSpPr/>
          <p:nvPr/>
        </p:nvSpPr>
        <p:spPr>
          <a:xfrm>
            <a:off x="6245352" y="1600200"/>
            <a:ext cx="5239512" cy="1828800"/>
          </a:xfrm>
          <a:prstGeom prst="roundRect">
            <a:avLst>
              <a:gd name="adj" fmla="val 60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3" name="Shape 9"/>
          <p:cNvSpPr/>
          <p:nvPr/>
        </p:nvSpPr>
        <p:spPr>
          <a:xfrm>
            <a:off x="6519672" y="1892808"/>
            <a:ext cx="566928" cy="566928"/>
          </a:xfrm>
          <a:prstGeom prst="ellipse">
            <a:avLst/>
          </a:prstGeom>
          <a:solidFill>
            <a:srgbClr val="16385E"/>
          </a:solidFill>
          <a:ln w="12700">
            <a:solidFill>
              <a:srgbClr val="16385E"/>
            </a:solidFill>
            <a:prstDash val="solid"/>
          </a:ln>
        </p:spPr>
      </p:sp>
      <p:pic>
        <p:nvPicPr>
          <p:cNvPr id="14" name="Image 2" descr="preencoded.png">    </p:cNvPr>
          <p:cNvPicPr>
            <a:picLocks noChangeAspect="1"/>
          </p:cNvPicPr>
          <p:nvPr/>
        </p:nvPicPr>
        <p:blipFill>
          <a:blip r:embed="rId3"/>
          <a:stretch>
            <a:fillRect/>
          </a:stretch>
        </p:blipFill>
        <p:spPr>
          <a:xfrm>
            <a:off x="6655735" y="2028871"/>
            <a:ext cx="294803" cy="294803"/>
          </a:xfrm>
          <a:prstGeom prst="rect">
            <a:avLst/>
          </a:prstGeom>
        </p:spPr>
      </p:pic>
      <p:sp>
        <p:nvSpPr>
          <p:cNvPr id="15" name="Text 10"/>
          <p:cNvSpPr txBox="1"/>
          <p:nvPr/>
        </p:nvSpPr>
        <p:spPr>
          <a:xfrm>
            <a:off x="7342632" y="1874520"/>
            <a:ext cx="3867912" cy="365760"/>
          </a:xfrm>
          <a:prstGeom prst="rect">
            <a:avLst/>
          </a:prstGeom>
          <a:noFill/>
          <a:ln/>
        </p:spPr>
        <p:txBody>
          <a:bodyPr wrap="square" lIns="0" tIns="0" rIns="0" bIns="0" rtlCol="0" anchor="t"/>
          <a:lstStyle/>
          <a:p>
            <a:pPr indent="0" marL="0">
              <a:buNone/>
            </a:pPr>
            <a:r>
              <a:rPr lang="en-US" sz="1700" b="1" dirty="0">
                <a:solidFill>
                  <a:srgbClr val="102A45"/>
                </a:solidFill>
                <a:latin typeface="Calibri" pitchFamily="34" charset="0"/>
                <a:ea typeface="Calibri" pitchFamily="34" charset="-122"/>
                <a:cs typeface="Calibri" pitchFamily="34" charset="-120"/>
              </a:rPr>
              <a:t>Промењена цена</a:t>
            </a:r>
            <a:endParaRPr lang="en-US" sz="1700" dirty="0"/>
          </a:p>
        </p:txBody>
      </p:sp>
      <p:sp>
        <p:nvSpPr>
          <p:cNvPr id="16" name="Text 11"/>
          <p:cNvSpPr txBox="1"/>
          <p:nvPr/>
        </p:nvSpPr>
        <p:spPr>
          <a:xfrm>
            <a:off x="7342632" y="2286000"/>
            <a:ext cx="3867912" cy="91440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Резервација се не прави по цени коју корисник није потврдио: 409 PRICE_CHANGED.</a:t>
            </a:r>
            <a:endParaRPr lang="en-US" sz="1350" dirty="0"/>
          </a:p>
        </p:txBody>
      </p:sp>
      <p:sp>
        <p:nvSpPr>
          <p:cNvPr id="17" name="Shape 12"/>
          <p:cNvSpPr/>
          <p:nvPr/>
        </p:nvSpPr>
        <p:spPr>
          <a:xfrm>
            <a:off x="685800" y="3749040"/>
            <a:ext cx="5239512" cy="1828800"/>
          </a:xfrm>
          <a:prstGeom prst="roundRect">
            <a:avLst>
              <a:gd name="adj" fmla="val 60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8" name="Shape 13"/>
          <p:cNvSpPr/>
          <p:nvPr/>
        </p:nvSpPr>
        <p:spPr>
          <a:xfrm>
            <a:off x="960120" y="4041648"/>
            <a:ext cx="566928" cy="566928"/>
          </a:xfrm>
          <a:prstGeom prst="ellipse">
            <a:avLst/>
          </a:prstGeom>
          <a:solidFill>
            <a:srgbClr val="16385E"/>
          </a:solidFill>
          <a:ln w="12700">
            <a:solidFill>
              <a:srgbClr val="16385E"/>
            </a:solidFill>
            <a:prstDash val="solid"/>
          </a:ln>
        </p:spPr>
      </p:sp>
      <p:pic>
        <p:nvPicPr>
          <p:cNvPr id="19" name="Image 3" descr="preencoded.png">    </p:cNvPr>
          <p:cNvPicPr>
            <a:picLocks noChangeAspect="1"/>
          </p:cNvPicPr>
          <p:nvPr/>
        </p:nvPicPr>
        <p:blipFill>
          <a:blip r:embed="rId4"/>
          <a:stretch>
            <a:fillRect/>
          </a:stretch>
        </p:blipFill>
        <p:spPr>
          <a:xfrm>
            <a:off x="1096183" y="4177711"/>
            <a:ext cx="294803" cy="294803"/>
          </a:xfrm>
          <a:prstGeom prst="rect">
            <a:avLst/>
          </a:prstGeom>
        </p:spPr>
      </p:pic>
      <p:sp>
        <p:nvSpPr>
          <p:cNvPr id="20" name="Text 14"/>
          <p:cNvSpPr txBox="1"/>
          <p:nvPr/>
        </p:nvSpPr>
        <p:spPr>
          <a:xfrm>
            <a:off x="1783080" y="4023360"/>
            <a:ext cx="3867912" cy="365760"/>
          </a:xfrm>
          <a:prstGeom prst="rect">
            <a:avLst/>
          </a:prstGeom>
          <a:noFill/>
          <a:ln/>
        </p:spPr>
        <p:txBody>
          <a:bodyPr wrap="square" lIns="0" tIns="0" rIns="0" bIns="0" rtlCol="0" anchor="t"/>
          <a:lstStyle/>
          <a:p>
            <a:pPr indent="0" marL="0">
              <a:buNone/>
            </a:pPr>
            <a:r>
              <a:rPr lang="en-US" sz="1700" b="1" dirty="0">
                <a:solidFill>
                  <a:srgbClr val="102A45"/>
                </a:solidFill>
                <a:latin typeface="Calibri" pitchFamily="34" charset="0"/>
                <a:ea typeface="Calibri" pitchFamily="34" charset="-122"/>
                <a:cs typeface="Calibri" pitchFamily="34" charset="-120"/>
              </a:rPr>
              <a:t>Двострука резервација</a:t>
            </a:r>
            <a:endParaRPr lang="en-US" sz="1700" dirty="0"/>
          </a:p>
        </p:txBody>
      </p:sp>
      <p:sp>
        <p:nvSpPr>
          <p:cNvPr id="21" name="Text 15"/>
          <p:cNvSpPr txBox="1"/>
          <p:nvPr/>
        </p:nvSpPr>
        <p:spPr>
          <a:xfrm>
            <a:off x="1783080" y="4434840"/>
            <a:ext cx="3867912" cy="91440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Јединствени парцијални индекс у бази дозвољава највише једну активну резервацију по путовању.</a:t>
            </a:r>
            <a:endParaRPr lang="en-US" sz="1350" dirty="0"/>
          </a:p>
        </p:txBody>
      </p:sp>
      <p:sp>
        <p:nvSpPr>
          <p:cNvPr id="22" name="Shape 16"/>
          <p:cNvSpPr/>
          <p:nvPr/>
        </p:nvSpPr>
        <p:spPr>
          <a:xfrm>
            <a:off x="6245352" y="3749040"/>
            <a:ext cx="5239512" cy="1828800"/>
          </a:xfrm>
          <a:prstGeom prst="roundRect">
            <a:avLst>
              <a:gd name="adj" fmla="val 6000"/>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23" name="Shape 17"/>
          <p:cNvSpPr/>
          <p:nvPr/>
        </p:nvSpPr>
        <p:spPr>
          <a:xfrm>
            <a:off x="6519672" y="4041648"/>
            <a:ext cx="566928" cy="566928"/>
          </a:xfrm>
          <a:prstGeom prst="ellipse">
            <a:avLst/>
          </a:prstGeom>
          <a:solidFill>
            <a:srgbClr val="16385E"/>
          </a:solidFill>
          <a:ln w="12700">
            <a:solidFill>
              <a:srgbClr val="16385E"/>
            </a:solidFill>
            <a:prstDash val="solid"/>
          </a:ln>
        </p:spPr>
      </p:sp>
      <p:pic>
        <p:nvPicPr>
          <p:cNvPr id="24" name="Image 4" descr="preencoded.png">    </p:cNvPr>
          <p:cNvPicPr>
            <a:picLocks noChangeAspect="1"/>
          </p:cNvPicPr>
          <p:nvPr/>
        </p:nvPicPr>
        <p:blipFill>
          <a:blip r:embed="rId5"/>
          <a:stretch>
            <a:fillRect/>
          </a:stretch>
        </p:blipFill>
        <p:spPr>
          <a:xfrm>
            <a:off x="6655735" y="4177711"/>
            <a:ext cx="294803" cy="294803"/>
          </a:xfrm>
          <a:prstGeom prst="rect">
            <a:avLst/>
          </a:prstGeom>
        </p:spPr>
      </p:pic>
      <p:sp>
        <p:nvSpPr>
          <p:cNvPr id="25" name="Text 18"/>
          <p:cNvSpPr txBox="1"/>
          <p:nvPr/>
        </p:nvSpPr>
        <p:spPr>
          <a:xfrm>
            <a:off x="7342632" y="4023360"/>
            <a:ext cx="3867912" cy="365760"/>
          </a:xfrm>
          <a:prstGeom prst="rect">
            <a:avLst/>
          </a:prstGeom>
          <a:noFill/>
          <a:ln/>
        </p:spPr>
        <p:txBody>
          <a:bodyPr wrap="square" lIns="0" tIns="0" rIns="0" bIns="0" rtlCol="0" anchor="t"/>
          <a:lstStyle/>
          <a:p>
            <a:pPr indent="0" marL="0">
              <a:buNone/>
            </a:pPr>
            <a:r>
              <a:rPr lang="en-US" sz="1700" b="1" dirty="0">
                <a:solidFill>
                  <a:srgbClr val="102A45"/>
                </a:solidFill>
                <a:latin typeface="Calibri" pitchFamily="34" charset="0"/>
                <a:ea typeface="Calibri" pitchFamily="34" charset="-122"/>
                <a:cs typeface="Calibri" pitchFamily="34" charset="-120"/>
              </a:rPr>
              <a:t>Две картице</a:t>
            </a:r>
            <a:endParaRPr lang="en-US" sz="1700" dirty="0"/>
          </a:p>
        </p:txBody>
      </p:sp>
      <p:sp>
        <p:nvSpPr>
          <p:cNvPr id="26" name="Text 19"/>
          <p:cNvSpPr txBox="1"/>
          <p:nvPr/>
        </p:nvSpPr>
        <p:spPr>
          <a:xfrm>
            <a:off x="7342632" y="4434840"/>
            <a:ext cx="3867912" cy="91440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Провера верзије при чувању: 409 VERSION_CONFLICT уместо тихог преписивања измена.</a:t>
            </a:r>
            <a:endParaRPr lang="en-US" sz="1350" dirty="0"/>
          </a:p>
        </p:txBody>
      </p:sp>
      <p:sp>
        <p:nvSpPr>
          <p:cNvPr id="27" name="Text 20"/>
          <p:cNvSpPr txBox="1"/>
          <p:nvPr/>
        </p:nvSpPr>
        <p:spPr>
          <a:xfrm>
            <a:off x="685800" y="5806440"/>
            <a:ext cx="10820095" cy="365760"/>
          </a:xfrm>
          <a:prstGeom prst="rect">
            <a:avLst/>
          </a:prstGeom>
          <a:noFill/>
          <a:ln/>
        </p:spPr>
        <p:txBody>
          <a:bodyPr wrap="square" lIns="0" tIns="0" rIns="0" bIns="0" rtlCol="0" anchor="t"/>
          <a:lstStyle/>
          <a:p>
            <a:pPr indent="0" marL="0">
              <a:buNone/>
            </a:pPr>
            <a:r>
              <a:rPr lang="en-US" sz="1500" b="1" dirty="0">
                <a:solidFill>
                  <a:srgbClr val="16385E"/>
                </a:solidFill>
                <a:latin typeface="Calibri" pitchFamily="34" charset="0"/>
                <a:ea typeface="Calibri" pitchFamily="34" charset="-122"/>
                <a:cs typeface="Calibri" pitchFamily="34" charset="-120"/>
              </a:rPr>
              <a:t>Клијент шаље само идентификаторе </a:t>
            </a:r>
            <a:pPr indent="0" marL="0">
              <a:buNone/>
            </a:pPr>
            <a:r>
              <a:rPr lang="en-US" sz="1500" dirty="0">
                <a:solidFill>
                  <a:srgbClr val="5E6B7A"/>
                </a:solidFill>
                <a:latin typeface="Calibri" pitchFamily="34" charset="0"/>
                <a:ea typeface="Calibri" pitchFamily="34" charset="-122"/>
                <a:cs typeface="Calibri" pitchFamily="34" charset="-120"/>
              </a:rPr>
              <a:t>— цену, понуду и сатницу увек одређује сервер.</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КОРИСНИЧКИ ИНТЕРФЕЈС</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Чаробњак и генерисан план</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685800" y="1527048"/>
            <a:ext cx="5312664" cy="3375279"/>
          </a:xfrm>
          <a:prstGeom prst="roundRect">
            <a:avLst>
              <a:gd name="adj" fmla="val 2709"/>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pic>
        <p:nvPicPr>
          <p:cNvPr id="8" name="Image 1" descr="">    </p:cNvPr>
          <p:cNvPicPr>
            <a:picLocks noChangeAspect="1"/>
          </p:cNvPicPr>
          <p:nvPr/>
        </p:nvPicPr>
        <p:blipFill>
          <a:blip r:embed="rId2"/>
          <a:stretch>
            <a:fillRect/>
          </a:stretch>
        </p:blipFill>
        <p:spPr>
          <a:xfrm>
            <a:off x="758952" y="1600200"/>
            <a:ext cx="5166360" cy="3228975"/>
          </a:xfrm>
          <a:prstGeom prst="rect">
            <a:avLst/>
          </a:prstGeom>
        </p:spPr>
      </p:pic>
      <p:sp>
        <p:nvSpPr>
          <p:cNvPr id="9" name="Shape 5"/>
          <p:cNvSpPr/>
          <p:nvPr/>
        </p:nvSpPr>
        <p:spPr>
          <a:xfrm>
            <a:off x="6464808" y="1527048"/>
            <a:ext cx="5312664" cy="3375279"/>
          </a:xfrm>
          <a:prstGeom prst="roundRect">
            <a:avLst>
              <a:gd name="adj" fmla="val 2709"/>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pic>
        <p:nvPicPr>
          <p:cNvPr id="10" name="Image 2" descr="">    </p:cNvPr>
          <p:cNvPicPr>
            <a:picLocks noChangeAspect="1"/>
          </p:cNvPicPr>
          <p:nvPr/>
        </p:nvPicPr>
        <p:blipFill>
          <a:blip r:embed="rId3"/>
          <a:stretch>
            <a:fillRect/>
          </a:stretch>
        </p:blipFill>
        <p:spPr>
          <a:xfrm>
            <a:off x="6537960" y="1600200"/>
            <a:ext cx="5166360" cy="3228975"/>
          </a:xfrm>
          <a:prstGeom prst="rect">
            <a:avLst/>
          </a:prstGeom>
        </p:spPr>
      </p:pic>
      <p:sp>
        <p:nvSpPr>
          <p:cNvPr id="11" name="Text 6"/>
          <p:cNvSpPr txBox="1"/>
          <p:nvPr/>
        </p:nvSpPr>
        <p:spPr>
          <a:xfrm>
            <a:off x="685800" y="5057775"/>
            <a:ext cx="5166360" cy="274320"/>
          </a:xfrm>
          <a:prstGeom prst="rect">
            <a:avLst/>
          </a:prstGeom>
          <a:noFill/>
          <a:ln/>
        </p:spPr>
        <p:txBody>
          <a:bodyPr wrap="square" lIns="0" tIns="0" rIns="0" bIns="0" rtlCol="0" anchor="t"/>
          <a:lstStyle/>
          <a:p>
            <a:pPr algn="ctr" indent="0" marL="0">
              <a:buNone/>
            </a:pPr>
            <a:r>
              <a:rPr lang="en-US" sz="1250" dirty="0">
                <a:solidFill>
                  <a:srgbClr val="5E6B7A"/>
                </a:solidFill>
                <a:latin typeface="Calibri" pitchFamily="34" charset="0"/>
                <a:ea typeface="Calibri" pitchFamily="34" charset="-122"/>
                <a:cs typeface="Calibri" pitchFamily="34" charset="-120"/>
              </a:rPr>
              <a:t>Корак 1: параметри путовања</a:t>
            </a:r>
            <a:endParaRPr lang="en-US" sz="1250" dirty="0"/>
          </a:p>
        </p:txBody>
      </p:sp>
      <p:sp>
        <p:nvSpPr>
          <p:cNvPr id="12" name="Text 7"/>
          <p:cNvSpPr txBox="1"/>
          <p:nvPr/>
        </p:nvSpPr>
        <p:spPr>
          <a:xfrm>
            <a:off x="6464808" y="5057775"/>
            <a:ext cx="5166360" cy="274320"/>
          </a:xfrm>
          <a:prstGeom prst="rect">
            <a:avLst/>
          </a:prstGeom>
          <a:noFill/>
          <a:ln/>
        </p:spPr>
        <p:txBody>
          <a:bodyPr wrap="square" lIns="0" tIns="0" rIns="0" bIns="0" rtlCol="0" anchor="t"/>
          <a:lstStyle/>
          <a:p>
            <a:pPr algn="ctr" indent="0" marL="0">
              <a:buNone/>
            </a:pPr>
            <a:r>
              <a:rPr lang="en-US" sz="1250" dirty="0">
                <a:solidFill>
                  <a:srgbClr val="5E6B7A"/>
                </a:solidFill>
                <a:latin typeface="Calibri" pitchFamily="34" charset="0"/>
                <a:ea typeface="Calibri" pitchFamily="34" charset="-122"/>
                <a:cs typeface="Calibri" pitchFamily="34" charset="-120"/>
              </a:rPr>
              <a:t>Корак 4: план са трошком и упозорењима</a:t>
            </a:r>
            <a:endParaRPr lang="en-US" sz="1250" dirty="0"/>
          </a:p>
        </p:txBody>
      </p:sp>
      <p:sp>
        <p:nvSpPr>
          <p:cNvPr id="13" name="Text 8"/>
          <p:cNvSpPr txBox="1"/>
          <p:nvPr/>
        </p:nvSpPr>
        <p:spPr>
          <a:xfrm>
            <a:off x="685800" y="5760720"/>
            <a:ext cx="10820095" cy="320040"/>
          </a:xfrm>
          <a:prstGeom prst="rect">
            <a:avLst/>
          </a:prstGeom>
          <a:noFill/>
          <a:ln/>
        </p:spPr>
        <p:txBody>
          <a:bodyPr wrap="square" lIns="0" tIns="0" rIns="0" bIns="0" rtlCol="0" anchor="t"/>
          <a:lstStyle/>
          <a:p>
            <a:pPr algn="ctr" indent="0" marL="0">
              <a:buNone/>
            </a:pPr>
            <a:r>
              <a:rPr lang="en-US" sz="1350" b="1" dirty="0">
                <a:solidFill>
                  <a:srgbClr val="4F78A6"/>
                </a:solidFill>
                <a:latin typeface="Calibri" pitchFamily="34" charset="0"/>
                <a:ea typeface="Calibri" pitchFamily="34" charset="-122"/>
                <a:cs typeface="Calibri" pitchFamily="34" charset="-120"/>
              </a:rPr>
              <a:t>српски и енглески језик  ·  прилагођено екрану ширине 360 px  ·  ознака када су понуде демонстрационе</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ДЕМОНСТРАЦИЈА</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Апликација у раду</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12</a:t>
            </a:r>
            <a:endParaRPr lang="en-US" sz="1000" dirty="0"/>
          </a:p>
        </p:txBody>
      </p:sp>
      <p:pic>
        <p:nvPicPr>
          <p:cNvPr id="7" name="Voyra demo" descr="Snimak rada aplikacije Voyra">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2"/>
          <a:stretch>
            <a:fillRect/>
          </a:stretch>
        </p:blipFill>
        <p:spPr>
          <a:xfrm>
            <a:off x="1236133" y="1554480"/>
            <a:ext cx="9719733" cy="4572000"/>
          </a:xfrm>
          <a:prstGeom prst="rect">
            <a:avLst/>
          </a:prstGeom>
          <a:ln w="9525">
            <a:solidFill>
              <a:srgbClr val="9FB8D4"/>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54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ТЕСТИРАЊЕ</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Четири нивоа тестова</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685800" y="1645920"/>
            <a:ext cx="2514600" cy="2331720"/>
          </a:xfrm>
          <a:prstGeom prst="roundRect">
            <a:avLst>
              <a:gd name="adj" fmla="val 4706"/>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8" name="Text 5"/>
          <p:cNvSpPr txBox="1"/>
          <p:nvPr/>
        </p:nvSpPr>
        <p:spPr>
          <a:xfrm>
            <a:off x="960120" y="1874520"/>
            <a:ext cx="1965960" cy="914400"/>
          </a:xfrm>
          <a:prstGeom prst="rect">
            <a:avLst/>
          </a:prstGeom>
          <a:noFill/>
          <a:ln/>
        </p:spPr>
        <p:txBody>
          <a:bodyPr wrap="square" lIns="0" tIns="0" rIns="0" bIns="0" rtlCol="0" anchor="t"/>
          <a:lstStyle/>
          <a:p>
            <a:pPr indent="0" marL="0">
              <a:buNone/>
            </a:pPr>
            <a:r>
              <a:rPr lang="en-US" sz="5000" dirty="0">
                <a:solidFill>
                  <a:srgbClr val="16385E"/>
                </a:solidFill>
                <a:latin typeface="Cambria" pitchFamily="34" charset="0"/>
                <a:ea typeface="Cambria" pitchFamily="34" charset="-122"/>
                <a:cs typeface="Cambria" pitchFamily="34" charset="-120"/>
              </a:rPr>
              <a:t>596</a:t>
            </a:r>
            <a:endParaRPr lang="en-US" sz="5000" dirty="0"/>
          </a:p>
        </p:txBody>
      </p:sp>
      <p:sp>
        <p:nvSpPr>
          <p:cNvPr id="9" name="Text 6"/>
          <p:cNvSpPr txBox="1"/>
          <p:nvPr/>
        </p:nvSpPr>
        <p:spPr>
          <a:xfrm>
            <a:off x="960120" y="2834640"/>
            <a:ext cx="1965960" cy="594360"/>
          </a:xfrm>
          <a:prstGeom prst="rect">
            <a:avLst/>
          </a:prstGeom>
          <a:noFill/>
          <a:ln/>
        </p:spPr>
        <p:txBody>
          <a:bodyPr wrap="square" lIns="0" tIns="0" rIns="0" bIns="0" rtlCol="0" anchor="t"/>
          <a:lstStyle/>
          <a:p>
            <a:pPr indent="0" marL="0">
              <a:buNone/>
            </a:pPr>
            <a:r>
              <a:rPr lang="en-US" sz="1500" b="1" dirty="0">
                <a:solidFill>
                  <a:srgbClr val="102A45"/>
                </a:solidFill>
                <a:latin typeface="Calibri" pitchFamily="34" charset="0"/>
                <a:ea typeface="Calibri" pitchFamily="34" charset="-122"/>
                <a:cs typeface="Calibri" pitchFamily="34" charset="-120"/>
              </a:rPr>
              <a:t>јединичних тестова сервиса</a:t>
            </a:r>
            <a:endParaRPr lang="en-US" sz="1500" dirty="0"/>
          </a:p>
        </p:txBody>
      </p:sp>
      <p:sp>
        <p:nvSpPr>
          <p:cNvPr id="10" name="Text 7"/>
          <p:cNvSpPr txBox="1"/>
          <p:nvPr/>
        </p:nvSpPr>
        <p:spPr>
          <a:xfrm>
            <a:off x="960120" y="3429000"/>
            <a:ext cx="1965960" cy="457200"/>
          </a:xfrm>
          <a:prstGeom prst="rect">
            <a:avLst/>
          </a:prstGeom>
          <a:noFill/>
          <a:ln/>
        </p:spPr>
        <p:txBody>
          <a:bodyPr wrap="square" lIns="0" tIns="0" rIns="0" bIns="0" rtlCol="0" anchor="t"/>
          <a:lstStyle/>
          <a:p>
            <a:pPr indent="0" marL="0">
              <a:buNone/>
            </a:pPr>
            <a:r>
              <a:rPr lang="en-US" sz="1250" dirty="0">
                <a:solidFill>
                  <a:srgbClr val="5E6B7A"/>
                </a:solidFill>
                <a:latin typeface="Calibri" pitchFamily="34" charset="0"/>
                <a:ea typeface="Calibri" pitchFamily="34" charset="-122"/>
                <a:cs typeface="Calibri" pitchFamily="34" charset="-120"/>
              </a:rPr>
              <a:t>node:test, без базе и мреже</a:t>
            </a:r>
            <a:endParaRPr lang="en-US" sz="1250" dirty="0"/>
          </a:p>
        </p:txBody>
      </p:sp>
      <p:sp>
        <p:nvSpPr>
          <p:cNvPr id="11" name="Shape 8"/>
          <p:cNvSpPr/>
          <p:nvPr/>
        </p:nvSpPr>
        <p:spPr>
          <a:xfrm>
            <a:off x="3454298" y="1645920"/>
            <a:ext cx="2514600" cy="2331720"/>
          </a:xfrm>
          <a:prstGeom prst="roundRect">
            <a:avLst>
              <a:gd name="adj" fmla="val 4706"/>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2" name="Text 9"/>
          <p:cNvSpPr txBox="1"/>
          <p:nvPr/>
        </p:nvSpPr>
        <p:spPr>
          <a:xfrm>
            <a:off x="3728618" y="1874520"/>
            <a:ext cx="1965960" cy="914400"/>
          </a:xfrm>
          <a:prstGeom prst="rect">
            <a:avLst/>
          </a:prstGeom>
          <a:noFill/>
          <a:ln/>
        </p:spPr>
        <p:txBody>
          <a:bodyPr wrap="square" lIns="0" tIns="0" rIns="0" bIns="0" rtlCol="0" anchor="t"/>
          <a:lstStyle/>
          <a:p>
            <a:pPr indent="0" marL="0">
              <a:buNone/>
            </a:pPr>
            <a:r>
              <a:rPr lang="en-US" sz="5000" dirty="0">
                <a:solidFill>
                  <a:srgbClr val="16385E"/>
                </a:solidFill>
                <a:latin typeface="Cambria" pitchFamily="34" charset="0"/>
                <a:ea typeface="Cambria" pitchFamily="34" charset="-122"/>
                <a:cs typeface="Cambria" pitchFamily="34" charset="-120"/>
              </a:rPr>
              <a:t>184</a:t>
            </a:r>
            <a:endParaRPr lang="en-US" sz="5000" dirty="0"/>
          </a:p>
        </p:txBody>
      </p:sp>
      <p:sp>
        <p:nvSpPr>
          <p:cNvPr id="13" name="Text 10"/>
          <p:cNvSpPr txBox="1"/>
          <p:nvPr/>
        </p:nvSpPr>
        <p:spPr>
          <a:xfrm>
            <a:off x="3728618" y="2834640"/>
            <a:ext cx="1965960" cy="594360"/>
          </a:xfrm>
          <a:prstGeom prst="rect">
            <a:avLst/>
          </a:prstGeom>
          <a:noFill/>
          <a:ln/>
        </p:spPr>
        <p:txBody>
          <a:bodyPr wrap="square" lIns="0" tIns="0" rIns="0" bIns="0" rtlCol="0" anchor="t"/>
          <a:lstStyle/>
          <a:p>
            <a:pPr indent="0" marL="0">
              <a:buNone/>
            </a:pPr>
            <a:r>
              <a:rPr lang="en-US" sz="1500" b="1" dirty="0">
                <a:solidFill>
                  <a:srgbClr val="102A45"/>
                </a:solidFill>
                <a:latin typeface="Calibri" pitchFamily="34" charset="0"/>
                <a:ea typeface="Calibri" pitchFamily="34" charset="-122"/>
                <a:cs typeface="Calibri" pitchFamily="34" charset="-120"/>
              </a:rPr>
              <a:t>теста клијентске апликације</a:t>
            </a:r>
            <a:endParaRPr lang="en-US" sz="1500" dirty="0"/>
          </a:p>
        </p:txBody>
      </p:sp>
      <p:sp>
        <p:nvSpPr>
          <p:cNvPr id="14" name="Text 11"/>
          <p:cNvSpPr txBox="1"/>
          <p:nvPr/>
        </p:nvSpPr>
        <p:spPr>
          <a:xfrm>
            <a:off x="3728618" y="3429000"/>
            <a:ext cx="1965960" cy="457200"/>
          </a:xfrm>
          <a:prstGeom prst="rect">
            <a:avLst/>
          </a:prstGeom>
          <a:noFill/>
          <a:ln/>
        </p:spPr>
        <p:txBody>
          <a:bodyPr wrap="square" lIns="0" tIns="0" rIns="0" bIns="0" rtlCol="0" anchor="t"/>
          <a:lstStyle/>
          <a:p>
            <a:pPr indent="0" marL="0">
              <a:buNone/>
            </a:pPr>
            <a:r>
              <a:rPr lang="en-US" sz="1250" dirty="0">
                <a:solidFill>
                  <a:srgbClr val="5E6B7A"/>
                </a:solidFill>
                <a:latin typeface="Calibri" pitchFamily="34" charset="0"/>
                <a:ea typeface="Calibri" pitchFamily="34" charset="-122"/>
                <a:cs typeface="Calibri" pitchFamily="34" charset="-120"/>
              </a:rPr>
              <a:t>Jasmine и Karma</a:t>
            </a:r>
            <a:endParaRPr lang="en-US" sz="1250" dirty="0"/>
          </a:p>
        </p:txBody>
      </p:sp>
      <p:sp>
        <p:nvSpPr>
          <p:cNvPr id="15" name="Shape 12"/>
          <p:cNvSpPr/>
          <p:nvPr/>
        </p:nvSpPr>
        <p:spPr>
          <a:xfrm>
            <a:off x="6222797" y="1645920"/>
            <a:ext cx="2514600" cy="2331720"/>
          </a:xfrm>
          <a:prstGeom prst="roundRect">
            <a:avLst>
              <a:gd name="adj" fmla="val 4706"/>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6" name="Text 13"/>
          <p:cNvSpPr txBox="1"/>
          <p:nvPr/>
        </p:nvSpPr>
        <p:spPr>
          <a:xfrm>
            <a:off x="6497117" y="1874520"/>
            <a:ext cx="1965960" cy="914400"/>
          </a:xfrm>
          <a:prstGeom prst="rect">
            <a:avLst/>
          </a:prstGeom>
          <a:noFill/>
          <a:ln/>
        </p:spPr>
        <p:txBody>
          <a:bodyPr wrap="square" lIns="0" tIns="0" rIns="0" bIns="0" rtlCol="0" anchor="t"/>
          <a:lstStyle/>
          <a:p>
            <a:pPr indent="0" marL="0">
              <a:buNone/>
            </a:pPr>
            <a:r>
              <a:rPr lang="en-US" sz="5000" dirty="0">
                <a:solidFill>
                  <a:srgbClr val="16385E"/>
                </a:solidFill>
                <a:latin typeface="Cambria" pitchFamily="34" charset="0"/>
                <a:ea typeface="Cambria" pitchFamily="34" charset="-122"/>
                <a:cs typeface="Cambria" pitchFamily="34" charset="-120"/>
              </a:rPr>
              <a:t>235</a:t>
            </a:r>
            <a:endParaRPr lang="en-US" sz="5000" dirty="0"/>
          </a:p>
        </p:txBody>
      </p:sp>
      <p:sp>
        <p:nvSpPr>
          <p:cNvPr id="17" name="Text 14"/>
          <p:cNvSpPr txBox="1"/>
          <p:nvPr/>
        </p:nvSpPr>
        <p:spPr>
          <a:xfrm>
            <a:off x="6497117" y="2834640"/>
            <a:ext cx="1965960" cy="594360"/>
          </a:xfrm>
          <a:prstGeom prst="rect">
            <a:avLst/>
          </a:prstGeom>
          <a:noFill/>
          <a:ln/>
        </p:spPr>
        <p:txBody>
          <a:bodyPr wrap="square" lIns="0" tIns="0" rIns="0" bIns="0" rtlCol="0" anchor="t"/>
          <a:lstStyle/>
          <a:p>
            <a:pPr indent="0" marL="0">
              <a:buNone/>
            </a:pPr>
            <a:r>
              <a:rPr lang="en-US" sz="1500" b="1" dirty="0">
                <a:solidFill>
                  <a:srgbClr val="102A45"/>
                </a:solidFill>
                <a:latin typeface="Calibri" pitchFamily="34" charset="0"/>
                <a:ea typeface="Calibri" pitchFamily="34" charset="-122"/>
                <a:cs typeface="Calibri" pitchFamily="34" charset="-120"/>
              </a:rPr>
              <a:t>рута проверено</a:t>
            </a:r>
            <a:endParaRPr lang="en-US" sz="1500" dirty="0"/>
          </a:p>
        </p:txBody>
      </p:sp>
      <p:sp>
        <p:nvSpPr>
          <p:cNvPr id="18" name="Text 15"/>
          <p:cNvSpPr txBox="1"/>
          <p:nvPr/>
        </p:nvSpPr>
        <p:spPr>
          <a:xfrm>
            <a:off x="6497117" y="3429000"/>
            <a:ext cx="1965960" cy="457200"/>
          </a:xfrm>
          <a:prstGeom prst="rect">
            <a:avLst/>
          </a:prstGeom>
          <a:noFill/>
          <a:ln/>
        </p:spPr>
        <p:txBody>
          <a:bodyPr wrap="square" lIns="0" tIns="0" rIns="0" bIns="0" rtlCol="0" anchor="t"/>
          <a:lstStyle/>
          <a:p>
            <a:pPr indent="0" marL="0">
              <a:buNone/>
            </a:pPr>
            <a:r>
              <a:rPr lang="en-US" sz="1250" dirty="0">
                <a:solidFill>
                  <a:srgbClr val="5E6B7A"/>
                </a:solidFill>
                <a:latin typeface="Calibri" pitchFamily="34" charset="0"/>
                <a:ea typeface="Calibri" pitchFamily="34" charset="-122"/>
                <a:cs typeface="Calibri" pitchFamily="34" charset="-120"/>
              </a:rPr>
              <a:t>OpenAPI у оба смера, 9 сервиса</a:t>
            </a:r>
            <a:endParaRPr lang="en-US" sz="1250" dirty="0"/>
          </a:p>
        </p:txBody>
      </p:sp>
      <p:sp>
        <p:nvSpPr>
          <p:cNvPr id="19" name="Shape 16"/>
          <p:cNvSpPr/>
          <p:nvPr/>
        </p:nvSpPr>
        <p:spPr>
          <a:xfrm>
            <a:off x="8991295" y="1645920"/>
            <a:ext cx="2514600" cy="2331720"/>
          </a:xfrm>
          <a:prstGeom prst="roundRect">
            <a:avLst>
              <a:gd name="adj" fmla="val 4706"/>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20" name="Text 17"/>
          <p:cNvSpPr txBox="1"/>
          <p:nvPr/>
        </p:nvSpPr>
        <p:spPr>
          <a:xfrm>
            <a:off x="9265615" y="1874520"/>
            <a:ext cx="1965960" cy="914400"/>
          </a:xfrm>
          <a:prstGeom prst="rect">
            <a:avLst/>
          </a:prstGeom>
          <a:noFill/>
          <a:ln/>
        </p:spPr>
        <p:txBody>
          <a:bodyPr wrap="square" lIns="0" tIns="0" rIns="0" bIns="0" rtlCol="0" anchor="t"/>
          <a:lstStyle/>
          <a:p>
            <a:pPr indent="0" marL="0">
              <a:buNone/>
            </a:pPr>
            <a:r>
              <a:rPr lang="en-US" sz="5000" dirty="0">
                <a:solidFill>
                  <a:srgbClr val="16385E"/>
                </a:solidFill>
                <a:latin typeface="Cambria" pitchFamily="34" charset="0"/>
                <a:ea typeface="Cambria" pitchFamily="34" charset="-122"/>
                <a:cs typeface="Cambria" pitchFamily="34" charset="-120"/>
              </a:rPr>
              <a:t>19</a:t>
            </a:r>
            <a:endParaRPr lang="en-US" sz="5000" dirty="0"/>
          </a:p>
        </p:txBody>
      </p:sp>
      <p:sp>
        <p:nvSpPr>
          <p:cNvPr id="21" name="Text 18"/>
          <p:cNvSpPr txBox="1"/>
          <p:nvPr/>
        </p:nvSpPr>
        <p:spPr>
          <a:xfrm>
            <a:off x="9265615" y="2834640"/>
            <a:ext cx="1965960" cy="594360"/>
          </a:xfrm>
          <a:prstGeom prst="rect">
            <a:avLst/>
          </a:prstGeom>
          <a:noFill/>
          <a:ln/>
        </p:spPr>
        <p:txBody>
          <a:bodyPr wrap="square" lIns="0" tIns="0" rIns="0" bIns="0" rtlCol="0" anchor="t"/>
          <a:lstStyle/>
          <a:p>
            <a:pPr indent="0" marL="0">
              <a:buNone/>
            </a:pPr>
            <a:r>
              <a:rPr lang="en-US" sz="1500" b="1" dirty="0">
                <a:solidFill>
                  <a:srgbClr val="102A45"/>
                </a:solidFill>
                <a:latin typeface="Calibri" pitchFamily="34" charset="0"/>
                <a:ea typeface="Calibri" pitchFamily="34" charset="-122"/>
                <a:cs typeface="Calibri" pitchFamily="34" charset="-120"/>
              </a:rPr>
              <a:t>сценарија с краја на крај</a:t>
            </a:r>
            <a:endParaRPr lang="en-US" sz="1500" dirty="0"/>
          </a:p>
        </p:txBody>
      </p:sp>
      <p:sp>
        <p:nvSpPr>
          <p:cNvPr id="22" name="Text 19"/>
          <p:cNvSpPr txBox="1"/>
          <p:nvPr/>
        </p:nvSpPr>
        <p:spPr>
          <a:xfrm>
            <a:off x="9265615" y="3429000"/>
            <a:ext cx="1965960" cy="457200"/>
          </a:xfrm>
          <a:prstGeom prst="rect">
            <a:avLst/>
          </a:prstGeom>
          <a:noFill/>
          <a:ln/>
        </p:spPr>
        <p:txBody>
          <a:bodyPr wrap="square" lIns="0" tIns="0" rIns="0" bIns="0" rtlCol="0" anchor="t"/>
          <a:lstStyle/>
          <a:p>
            <a:pPr indent="0" marL="0">
              <a:buNone/>
            </a:pPr>
            <a:r>
              <a:rPr lang="en-US" sz="1250" dirty="0">
                <a:solidFill>
                  <a:srgbClr val="5E6B7A"/>
                </a:solidFill>
                <a:latin typeface="Calibri" pitchFamily="34" charset="0"/>
                <a:ea typeface="Calibri" pitchFamily="34" charset="-122"/>
                <a:cs typeface="Calibri" pitchFamily="34" charset="-120"/>
              </a:rPr>
              <a:t>Selenium WebDriver и Mocha</a:t>
            </a:r>
            <a:endParaRPr lang="en-US" sz="1250" dirty="0"/>
          </a:p>
        </p:txBody>
      </p:sp>
      <p:sp>
        <p:nvSpPr>
          <p:cNvPr id="23" name="Shape 20"/>
          <p:cNvSpPr/>
          <p:nvPr/>
        </p:nvSpPr>
        <p:spPr>
          <a:xfrm>
            <a:off x="685800" y="4297680"/>
            <a:ext cx="5257800" cy="1645920"/>
          </a:xfrm>
          <a:prstGeom prst="roundRect">
            <a:avLst>
              <a:gd name="adj" fmla="val 6667"/>
            </a:avLst>
          </a:prstGeom>
          <a:solidFill>
            <a:srgbClr val="16385E"/>
          </a:solidFill>
          <a:ln w="12700">
            <a:solidFill>
              <a:srgbClr val="16385E"/>
            </a:solidFill>
            <a:prstDash val="solid"/>
          </a:ln>
        </p:spPr>
      </p:sp>
      <p:sp>
        <p:nvSpPr>
          <p:cNvPr id="24" name="Text 21"/>
          <p:cNvSpPr txBox="1"/>
          <p:nvPr/>
        </p:nvSpPr>
        <p:spPr>
          <a:xfrm>
            <a:off x="1005840" y="4462272"/>
            <a:ext cx="4663440" cy="365760"/>
          </a:xfrm>
          <a:prstGeom prst="rect">
            <a:avLst/>
          </a:prstGeom>
          <a:noFill/>
          <a:ln/>
        </p:spPr>
        <p:txBody>
          <a:bodyPr wrap="square" lIns="0" tIns="0" rIns="0" bIns="0" rtlCol="0" anchor="t"/>
          <a:lstStyle/>
          <a:p>
            <a:pPr indent="0" marL="0">
              <a:buNone/>
            </a:pPr>
            <a:r>
              <a:rPr lang="en-US" sz="1500" b="1" dirty="0">
                <a:solidFill>
                  <a:srgbClr val="8FB3D9"/>
                </a:solidFill>
                <a:latin typeface="Courier New" pitchFamily="34" charset="0"/>
                <a:ea typeface="Courier New" pitchFamily="34" charset="-122"/>
                <a:cs typeface="Courier New" pitchFamily="34" charset="-120"/>
              </a:rPr>
              <a:t>npm run test:sve</a:t>
            </a:r>
            <a:endParaRPr lang="en-US" sz="1500" dirty="0"/>
          </a:p>
        </p:txBody>
      </p:sp>
      <p:sp>
        <p:nvSpPr>
          <p:cNvPr id="25" name="Text 22"/>
          <p:cNvSpPr txBox="1"/>
          <p:nvPr/>
        </p:nvSpPr>
        <p:spPr>
          <a:xfrm>
            <a:off x="1005840" y="4864608"/>
            <a:ext cx="4663440" cy="9601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1.294 провере у два узастопна пролаза, над засебним тест базама, без дирања развојних података.</a:t>
            </a:r>
            <a:endParaRPr lang="en-US" sz="1400" dirty="0"/>
          </a:p>
        </p:txBody>
      </p:sp>
      <p:sp>
        <p:nvSpPr>
          <p:cNvPr id="26" name="Shape 23"/>
          <p:cNvSpPr/>
          <p:nvPr/>
        </p:nvSpPr>
        <p:spPr>
          <a:xfrm>
            <a:off x="6263640" y="4297680"/>
            <a:ext cx="5242255" cy="1645920"/>
          </a:xfrm>
          <a:prstGeom prst="roundRect">
            <a:avLst>
              <a:gd name="adj" fmla="val 6667"/>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27" name="Text 24"/>
          <p:cNvSpPr txBox="1"/>
          <p:nvPr/>
        </p:nvSpPr>
        <p:spPr>
          <a:xfrm>
            <a:off x="6537960" y="4462272"/>
            <a:ext cx="4754880" cy="365760"/>
          </a:xfrm>
          <a:prstGeom prst="rect">
            <a:avLst/>
          </a:prstGeom>
          <a:noFill/>
          <a:ln/>
        </p:spPr>
        <p:txBody>
          <a:bodyPr wrap="square" lIns="0" tIns="0" rIns="0" bIns="0" rtlCol="0" anchor="t"/>
          <a:lstStyle/>
          <a:p>
            <a:pPr indent="0" marL="0">
              <a:buNone/>
            </a:pPr>
            <a:r>
              <a:rPr lang="en-US" sz="1600" b="1" dirty="0">
                <a:solidFill>
                  <a:srgbClr val="102A45"/>
                </a:solidFill>
                <a:latin typeface="Calibri" pitchFamily="34" charset="0"/>
                <a:ea typeface="Calibri" pitchFamily="34" charset="-122"/>
                <a:cs typeface="Calibri" pitchFamily="34" charset="-120"/>
              </a:rPr>
              <a:t>Пронађене грешке</a:t>
            </a:r>
            <a:endParaRPr lang="en-US" sz="1600" dirty="0"/>
          </a:p>
        </p:txBody>
      </p:sp>
      <p:sp>
        <p:nvSpPr>
          <p:cNvPr id="28" name="Text 25"/>
          <p:cNvSpPr txBox="1"/>
          <p:nvPr/>
        </p:nvSpPr>
        <p:spPr>
          <a:xfrm>
            <a:off x="6537960" y="4846320"/>
            <a:ext cx="4800600" cy="105156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5E6B7A"/>
                </a:solidFill>
                <a:latin typeface="Calibri" pitchFamily="34" charset="0"/>
                <a:ea typeface="Calibri" pitchFamily="34" charset="-122"/>
                <a:cs typeface="Calibri" pitchFamily="34" charset="-120"/>
              </a:rPr>
              <a:t>индекс против двоструке резервације (sparse → парцијални)</a:t>
            </a:r>
            <a:endParaRPr lang="en-US" sz="1350" dirty="0"/>
          </a:p>
          <a:p>
            <a:pPr marL="342900" indent="-342900">
              <a:spcAft>
                <a:spcPts val="400"/>
              </a:spcAft>
              <a:buSzPct val="100000"/>
              <a:buChar char="•"/>
            </a:pPr>
            <a:r>
              <a:rPr lang="en-US" sz="1350" dirty="0">
                <a:solidFill>
                  <a:srgbClr val="5E6B7A"/>
                </a:solidFill>
                <a:latin typeface="Calibri" pitchFamily="34" charset="0"/>
                <a:ea typeface="Calibri" pitchFamily="34" charset="-122"/>
                <a:cs typeface="Calibri" pitchFamily="34" charset="-120"/>
              </a:rPr>
              <a:t>нула за трајање кеша верзије токена</a:t>
            </a:r>
            <a:endParaRPr lang="en-US" sz="1350" dirty="0"/>
          </a:p>
          <a:p>
            <a:pPr marL="342900" indent="-342900">
              <a:spcAft>
                <a:spcPts val="400"/>
              </a:spcAft>
              <a:buSzPct val="100000"/>
              <a:buChar char="•"/>
            </a:pPr>
            <a:r>
              <a:rPr lang="en-US" sz="1350" dirty="0">
                <a:solidFill>
                  <a:srgbClr val="5E6B7A"/>
                </a:solidFill>
                <a:latin typeface="Calibri" pitchFamily="34" charset="0"/>
                <a:ea typeface="Calibri" pitchFamily="34" charset="-122"/>
                <a:cs typeface="Calibri" pitchFamily="34" charset="-120"/>
              </a:rPr>
              <a:t>парсер радног времена са размацима око цртице</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ПЕРФОРМАНСЕ</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Алгоритам је брз, време троше екстерни сервиси</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685800" y="1600200"/>
            <a:ext cx="4206240" cy="2103120"/>
          </a:xfrm>
          <a:prstGeom prst="roundRect">
            <a:avLst>
              <a:gd name="adj" fmla="val 5217"/>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8" name="Text 5"/>
          <p:cNvSpPr txBox="1"/>
          <p:nvPr/>
        </p:nvSpPr>
        <p:spPr>
          <a:xfrm>
            <a:off x="1005840" y="1783080"/>
            <a:ext cx="3566160" cy="868680"/>
          </a:xfrm>
          <a:prstGeom prst="rect">
            <a:avLst/>
          </a:prstGeom>
          <a:noFill/>
          <a:ln/>
        </p:spPr>
        <p:txBody>
          <a:bodyPr wrap="square" lIns="0" tIns="0" rIns="0" bIns="0" rtlCol="0" anchor="t"/>
          <a:lstStyle/>
          <a:p>
            <a:pPr indent="0" marL="0">
              <a:buNone/>
            </a:pPr>
            <a:r>
              <a:rPr lang="en-US" sz="4800" dirty="0">
                <a:solidFill>
                  <a:srgbClr val="16385E"/>
                </a:solidFill>
                <a:latin typeface="Cambria" pitchFamily="34" charset="0"/>
                <a:ea typeface="Cambria" pitchFamily="34" charset="-122"/>
                <a:cs typeface="Cambria" pitchFamily="34" charset="-120"/>
              </a:rPr>
              <a:t>33,6 мс</a:t>
            </a:r>
            <a:endParaRPr lang="en-US" sz="4800" dirty="0"/>
          </a:p>
        </p:txBody>
      </p:sp>
      <p:sp>
        <p:nvSpPr>
          <p:cNvPr id="9" name="Text 6"/>
          <p:cNvSpPr txBox="1"/>
          <p:nvPr/>
        </p:nvSpPr>
        <p:spPr>
          <a:xfrm>
            <a:off x="1005840" y="2697480"/>
            <a:ext cx="3611880" cy="86868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најдуже извршавање алгоритма за 100 атракција и 14 дана, око 30 пута испод границе од 1 с</a:t>
            </a:r>
            <a:endParaRPr lang="en-US" sz="1350" dirty="0"/>
          </a:p>
        </p:txBody>
      </p:sp>
      <p:sp>
        <p:nvSpPr>
          <p:cNvPr id="10" name="Shape 7"/>
          <p:cNvSpPr/>
          <p:nvPr/>
        </p:nvSpPr>
        <p:spPr>
          <a:xfrm>
            <a:off x="685800" y="3931920"/>
            <a:ext cx="4206240" cy="2011680"/>
          </a:xfrm>
          <a:prstGeom prst="roundRect">
            <a:avLst>
              <a:gd name="adj" fmla="val 5455"/>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11" name="Text 8"/>
          <p:cNvSpPr txBox="1"/>
          <p:nvPr/>
        </p:nvSpPr>
        <p:spPr>
          <a:xfrm>
            <a:off x="1005840" y="4114800"/>
            <a:ext cx="3566160" cy="822960"/>
          </a:xfrm>
          <a:prstGeom prst="rect">
            <a:avLst/>
          </a:prstGeom>
          <a:noFill/>
          <a:ln/>
        </p:spPr>
        <p:txBody>
          <a:bodyPr wrap="square" lIns="0" tIns="0" rIns="0" bIns="0" rtlCol="0" anchor="t"/>
          <a:lstStyle/>
          <a:p>
            <a:pPr indent="0" marL="0">
              <a:buNone/>
            </a:pPr>
            <a:r>
              <a:rPr lang="en-US" sz="4000" dirty="0">
                <a:solidFill>
                  <a:srgbClr val="16385E"/>
                </a:solidFill>
                <a:latin typeface="Cambria" pitchFamily="34" charset="0"/>
                <a:ea typeface="Cambria" pitchFamily="34" charset="-122"/>
                <a:cs typeface="Cambria" pitchFamily="34" charset="-120"/>
              </a:rPr>
              <a:t>72–106 мс</a:t>
            </a:r>
            <a:endParaRPr lang="en-US" sz="4000" dirty="0"/>
          </a:p>
        </p:txBody>
      </p:sp>
      <p:sp>
        <p:nvSpPr>
          <p:cNvPr id="12" name="Text 9"/>
          <p:cNvSpPr txBox="1"/>
          <p:nvPr/>
        </p:nvSpPr>
        <p:spPr>
          <a:xfrm>
            <a:off x="1005840" y="4983480"/>
            <a:ext cx="3611880" cy="822960"/>
          </a:xfrm>
          <a:prstGeom prst="rect">
            <a:avLst/>
          </a:prstGeom>
          <a:noFill/>
          <a:ln/>
        </p:spPr>
        <p:txBody>
          <a:bodyPr wrap="square" lIns="0" tIns="0" rIns="0" bIns="0" rtlCol="0" anchor="t"/>
          <a:lstStyle/>
          <a:p>
            <a:pPr indent="0" marL="0">
              <a:buNone/>
            </a:pPr>
            <a:r>
              <a:rPr lang="en-US" sz="1350" dirty="0">
                <a:solidFill>
                  <a:srgbClr val="5E6B7A"/>
                </a:solidFill>
                <a:latin typeface="Calibri" pitchFamily="34" charset="0"/>
                <a:ea typeface="Calibri" pitchFamily="34" charset="-122"/>
                <a:cs typeface="Calibri" pitchFamily="34" charset="-120"/>
              </a:rPr>
              <a:t>цео план из кеша, за све три руте (захтев: мање од 2 с)</a:t>
            </a:r>
            <a:endParaRPr lang="en-US" sz="1350" dirty="0"/>
          </a:p>
        </p:txBody>
      </p:sp>
      <p:sp>
        <p:nvSpPr>
          <p:cNvPr id="13" name="Shape 10"/>
          <p:cNvSpPr/>
          <p:nvPr/>
        </p:nvSpPr>
        <p:spPr>
          <a:xfrm>
            <a:off x="5257800" y="1600200"/>
            <a:ext cx="6248095" cy="4343400"/>
          </a:xfrm>
          <a:prstGeom prst="roundRect">
            <a:avLst>
              <a:gd name="adj" fmla="val 2526"/>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graphicFrame>
        <p:nvGraphicFramePr>
          <p:cNvPr id="14" name="Chart 0" descr=""/>
          <p:cNvGraphicFramePr/>
          <p:nvPr/>
        </p:nvGraphicFramePr>
        <p:xfrm>
          <a:off x="5486400" y="1783080"/>
          <a:ext cx="5790895" cy="356616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5577840" y="5349240"/>
            <a:ext cx="5608015" cy="502920"/>
          </a:xfrm>
          <a:prstGeom prst="rect">
            <a:avLst/>
          </a:prstGeom>
          <a:noFill/>
          <a:ln/>
        </p:spPr>
        <p:txBody>
          <a:bodyPr wrap="square" lIns="0" tIns="0" rIns="0" bIns="0" rtlCol="0" anchor="t"/>
          <a:lstStyle/>
          <a:p>
            <a:pPr indent="0" marL="0">
              <a:buNone/>
            </a:pPr>
            <a:r>
              <a:rPr lang="en-US" sz="1250" dirty="0">
                <a:solidFill>
                  <a:srgbClr val="5E6B7A"/>
                </a:solidFill>
                <a:latin typeface="Calibri" pitchFamily="34" charset="0"/>
                <a:ea typeface="Calibri" pitchFamily="34" charset="-122"/>
                <a:cs typeface="Calibri" pitchFamily="34" charset="-120"/>
              </a:rPr>
              <a:t>Захтев од 10 с испуњен је за Атину, а не и за Рим и Париз. Над припремљеним подацима исти план настаје за 1 с.</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BF7"/>
        </a:solidFill>
      </p:bgPr>
    </p:bg>
    <p:spTree>
      <p:nvGrpSpPr>
        <p:cNvPr id="1" name=""/>
        <p:cNvGrpSpPr/>
        <p:nvPr/>
      </p:nvGrpSpPr>
      <p:grpSpPr>
        <a:xfrm>
          <a:off x="0" y="0"/>
          <a:ext cx="0" cy="0"/>
          <a:chOff x="0" y="0"/>
          <a:chExt cx="0" cy="0"/>
        </a:xfrm>
      </p:grpSpPr>
      <p:sp>
        <p:nvSpPr>
          <p:cNvPr id="2" name="Text 0"/>
          <p:cNvSpPr txBox="1"/>
          <p:nvPr/>
        </p:nvSpPr>
        <p:spPr>
          <a:xfrm>
            <a:off x="685800" y="384048"/>
            <a:ext cx="7315200" cy="274320"/>
          </a:xfrm>
          <a:prstGeom prst="rect">
            <a:avLst/>
          </a:prstGeom>
          <a:noFill/>
          <a:ln/>
        </p:spPr>
        <p:txBody>
          <a:bodyPr wrap="square" lIns="0" tIns="0" rIns="0" bIns="0" rtlCol="0" anchor="ctr"/>
          <a:lstStyle/>
          <a:p>
            <a:pPr indent="0" marL="0">
              <a:buNone/>
            </a:pPr>
            <a:r>
              <a:rPr lang="en-US" sz="1100" b="1" spc="300" kern="0" dirty="0">
                <a:solidFill>
                  <a:srgbClr val="4F78A6"/>
                </a:solidFill>
                <a:latin typeface="Calibri" pitchFamily="34" charset="0"/>
                <a:ea typeface="Calibri" pitchFamily="34" charset="-122"/>
                <a:cs typeface="Calibri" pitchFamily="34" charset="-120"/>
              </a:rPr>
              <a:t>ЗАКЉУЧАК</a:t>
            </a:r>
            <a:endParaRPr lang="en-US" sz="1100" dirty="0"/>
          </a:p>
        </p:txBody>
      </p:sp>
      <p:sp>
        <p:nvSpPr>
          <p:cNvPr id="3" name="Text 1"/>
          <p:cNvSpPr txBox="1"/>
          <p:nvPr/>
        </p:nvSpPr>
        <p:spPr>
          <a:xfrm>
            <a:off x="685800" y="658368"/>
            <a:ext cx="10820095" cy="685800"/>
          </a:xfrm>
          <a:prstGeom prst="rect">
            <a:avLst/>
          </a:prstGeom>
          <a:noFill/>
          <a:ln/>
        </p:spPr>
        <p:txBody>
          <a:bodyPr wrap="square" lIns="0" tIns="0" rIns="0" bIns="0" rtlCol="0" anchor="t"/>
          <a:lstStyle/>
          <a:p>
            <a:pPr indent="0" marL="0">
              <a:buNone/>
            </a:pPr>
            <a:r>
              <a:rPr lang="en-US" sz="3200" dirty="0">
                <a:solidFill>
                  <a:srgbClr val="102A45"/>
                </a:solidFill>
                <a:latin typeface="Cambria" pitchFamily="34" charset="0"/>
                <a:ea typeface="Cambria" pitchFamily="34" charset="-122"/>
                <a:cs typeface="Cambria" pitchFamily="34" charset="-120"/>
              </a:rPr>
              <a:t>Резултати и даљи развој</a:t>
            </a:r>
            <a:endParaRPr lang="en-US" sz="3200" dirty="0"/>
          </a:p>
        </p:txBody>
      </p:sp>
      <p:pic>
        <p:nvPicPr>
          <p:cNvPr id="4" name="Image 0" descr="preencoded.png">    </p:cNvPr>
          <p:cNvPicPr>
            <a:picLocks noChangeAspect="1"/>
          </p:cNvPicPr>
          <p:nvPr/>
        </p:nvPicPr>
        <p:blipFill>
          <a:blip r:embed="rId1"/>
          <a:stretch>
            <a:fillRect/>
          </a:stretch>
        </p:blipFill>
        <p:spPr>
          <a:xfrm>
            <a:off x="685800" y="6428232"/>
            <a:ext cx="182880" cy="182880"/>
          </a:xfrm>
          <a:prstGeom prst="rect">
            <a:avLst/>
          </a:prstGeom>
        </p:spPr>
      </p:pic>
      <p:sp>
        <p:nvSpPr>
          <p:cNvPr id="5" name="Text 2"/>
          <p:cNvSpPr txBox="1"/>
          <p:nvPr/>
        </p:nvSpPr>
        <p:spPr>
          <a:xfrm>
            <a:off x="960120" y="6400800"/>
            <a:ext cx="5486400" cy="237744"/>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Voyra  ·  Јована Чегањац  ·  Завршни рад</a:t>
            </a:r>
            <a:endParaRPr lang="en-US" sz="1000" dirty="0"/>
          </a:p>
        </p:txBody>
      </p:sp>
      <p:sp>
        <p:nvSpPr>
          <p:cNvPr id="6" name="Text 3"/>
          <p:cNvSpPr txBox="1"/>
          <p:nvPr/>
        </p:nvSpPr>
        <p:spPr>
          <a:xfrm>
            <a:off x="10957255" y="6400800"/>
            <a:ext cx="548640" cy="237744"/>
          </a:xfrm>
          <a:prstGeom prst="rect">
            <a:avLst/>
          </a:prstGeom>
          <a:noFill/>
          <a:ln/>
        </p:spPr>
        <p:txBody>
          <a:bodyPr wrap="square" lIns="0" tIns="0" rIns="0" bIns="0" rtlCol="0" anchor="ctr"/>
          <a:lstStyle/>
          <a:p>
            <a:pPr algn="r" indent="0" marL="0">
              <a:buNone/>
            </a:pPr>
            <a:r>
              <a:rPr lang="en-US" sz="1000" dirty="0">
                <a:solidFill>
                  <a:srgbClr val="5E6B7A"/>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685800" y="1600200"/>
            <a:ext cx="5257800" cy="4343400"/>
          </a:xfrm>
          <a:prstGeom prst="roundRect">
            <a:avLst>
              <a:gd name="adj" fmla="val 2526"/>
            </a:avLst>
          </a:prstGeom>
          <a:solidFill>
            <a:srgbClr val="FFFFFF"/>
          </a:solidFill>
          <a:ln w="9525">
            <a:solidFill>
              <a:srgbClr val="DCD5C7"/>
            </a:solidFill>
            <a:prstDash val="solid"/>
          </a:ln>
          <a:effectLst>
            <a:outerShdw sx="100000" sy="100000" kx="0" ky="0" algn="bl" rotWithShape="0" blurRad="101600" dist="19050" dir="5400000">
              <a:srgbClr val="000000">
                <a:alpha val="8000"/>
              </a:srgbClr>
            </a:outerShdw>
          </a:effectLst>
        </p:spPr>
      </p:sp>
      <p:sp>
        <p:nvSpPr>
          <p:cNvPr id="8" name="Text 5"/>
          <p:cNvSpPr txBox="1"/>
          <p:nvPr/>
        </p:nvSpPr>
        <p:spPr>
          <a:xfrm>
            <a:off x="1005840" y="1783080"/>
            <a:ext cx="3657600" cy="411480"/>
          </a:xfrm>
          <a:prstGeom prst="rect">
            <a:avLst/>
          </a:prstGeom>
          <a:noFill/>
          <a:ln/>
        </p:spPr>
        <p:txBody>
          <a:bodyPr wrap="square" lIns="0" tIns="0" rIns="0" bIns="0" rtlCol="0" anchor="t"/>
          <a:lstStyle/>
          <a:p>
            <a:pPr indent="0" marL="0">
              <a:buNone/>
            </a:pPr>
            <a:r>
              <a:rPr lang="en-US" sz="1800" b="1" dirty="0">
                <a:solidFill>
                  <a:srgbClr val="16385E"/>
                </a:solidFill>
                <a:latin typeface="Calibri" pitchFamily="34" charset="0"/>
                <a:ea typeface="Calibri" pitchFamily="34" charset="-122"/>
                <a:cs typeface="Calibri" pitchFamily="34" charset="-120"/>
              </a:rPr>
              <a:t>Остварено</a:t>
            </a:r>
            <a:endParaRPr lang="en-US" sz="1800" dirty="0"/>
          </a:p>
        </p:txBody>
      </p:sp>
      <p:sp>
        <p:nvSpPr>
          <p:cNvPr id="9" name="Shape 6"/>
          <p:cNvSpPr/>
          <p:nvPr/>
        </p:nvSpPr>
        <p:spPr>
          <a:xfrm>
            <a:off x="1005840" y="2359152"/>
            <a:ext cx="384048" cy="384048"/>
          </a:xfrm>
          <a:prstGeom prst="ellipse">
            <a:avLst/>
          </a:prstGeom>
          <a:solidFill>
            <a:srgbClr val="16385E"/>
          </a:solidFill>
          <a:ln w="12700">
            <a:solidFill>
              <a:srgbClr val="16385E"/>
            </a:solidFill>
            <a:prstDash val="solid"/>
          </a:ln>
        </p:spPr>
      </p:sp>
      <p:pic>
        <p:nvPicPr>
          <p:cNvPr id="10" name="Image 1" descr="preencoded.png">    </p:cNvPr>
          <p:cNvPicPr>
            <a:picLocks noChangeAspect="1"/>
          </p:cNvPicPr>
          <p:nvPr/>
        </p:nvPicPr>
        <p:blipFill>
          <a:blip r:embed="rId2"/>
          <a:stretch>
            <a:fillRect/>
          </a:stretch>
        </p:blipFill>
        <p:spPr>
          <a:xfrm>
            <a:off x="1088136" y="2441448"/>
            <a:ext cx="219456" cy="219456"/>
          </a:xfrm>
          <a:prstGeom prst="rect">
            <a:avLst/>
          </a:prstGeom>
        </p:spPr>
      </p:pic>
      <p:sp>
        <p:nvSpPr>
          <p:cNvPr id="11" name="Text 7"/>
          <p:cNvSpPr txBox="1"/>
          <p:nvPr/>
        </p:nvSpPr>
        <p:spPr>
          <a:xfrm>
            <a:off x="1554480" y="2331720"/>
            <a:ext cx="4069080" cy="731520"/>
          </a:xfrm>
          <a:prstGeom prst="rect">
            <a:avLst/>
          </a:prstGeom>
          <a:noFill/>
          <a:ln/>
        </p:spPr>
        <p:txBody>
          <a:bodyPr wrap="square" lIns="0" tIns="0" rIns="0" bIns="0" rtlCol="0" anchor="t"/>
          <a:lstStyle/>
          <a:p>
            <a:pPr indent="0" marL="0">
              <a:buNone/>
            </a:pPr>
            <a:r>
              <a:rPr lang="en-US" sz="1450" dirty="0">
                <a:solidFill>
                  <a:srgbClr val="102A45"/>
                </a:solidFill>
                <a:latin typeface="Calibri" pitchFamily="34" charset="0"/>
                <a:ea typeface="Calibri" pitchFamily="34" charset="-122"/>
                <a:cs typeface="Calibri" pitchFamily="34" charset="-120"/>
              </a:rPr>
              <a:t>План по данима који је изводљив, просторно смислен и објашњен</a:t>
            </a:r>
            <a:endParaRPr lang="en-US" sz="1450" dirty="0"/>
          </a:p>
        </p:txBody>
      </p:sp>
      <p:sp>
        <p:nvSpPr>
          <p:cNvPr id="12" name="Shape 8"/>
          <p:cNvSpPr/>
          <p:nvPr/>
        </p:nvSpPr>
        <p:spPr>
          <a:xfrm>
            <a:off x="1005840" y="3227832"/>
            <a:ext cx="384048" cy="384048"/>
          </a:xfrm>
          <a:prstGeom prst="ellipse">
            <a:avLst/>
          </a:prstGeom>
          <a:solidFill>
            <a:srgbClr val="16385E"/>
          </a:solidFill>
          <a:ln w="12700">
            <a:solidFill>
              <a:srgbClr val="16385E"/>
            </a:solidFill>
            <a:prstDash val="solid"/>
          </a:ln>
        </p:spPr>
      </p:sp>
      <p:pic>
        <p:nvPicPr>
          <p:cNvPr id="13" name="Image 2" descr="preencoded.png">    </p:cNvPr>
          <p:cNvPicPr>
            <a:picLocks noChangeAspect="1"/>
          </p:cNvPicPr>
          <p:nvPr/>
        </p:nvPicPr>
        <p:blipFill>
          <a:blip r:embed="rId3"/>
          <a:stretch>
            <a:fillRect/>
          </a:stretch>
        </p:blipFill>
        <p:spPr>
          <a:xfrm>
            <a:off x="1088136" y="3310128"/>
            <a:ext cx="219456" cy="219456"/>
          </a:xfrm>
          <a:prstGeom prst="rect">
            <a:avLst/>
          </a:prstGeom>
        </p:spPr>
      </p:pic>
      <p:sp>
        <p:nvSpPr>
          <p:cNvPr id="14" name="Text 9"/>
          <p:cNvSpPr txBox="1"/>
          <p:nvPr/>
        </p:nvSpPr>
        <p:spPr>
          <a:xfrm>
            <a:off x="1554480" y="3200400"/>
            <a:ext cx="4069080" cy="731520"/>
          </a:xfrm>
          <a:prstGeom prst="rect">
            <a:avLst/>
          </a:prstGeom>
          <a:noFill/>
          <a:ln/>
        </p:spPr>
        <p:txBody>
          <a:bodyPr wrap="square" lIns="0" tIns="0" rIns="0" bIns="0" rtlCol="0" anchor="t"/>
          <a:lstStyle/>
          <a:p>
            <a:pPr indent="0" marL="0">
              <a:buNone/>
            </a:pPr>
            <a:r>
              <a:rPr lang="en-US" sz="1450" dirty="0">
                <a:solidFill>
                  <a:srgbClr val="102A45"/>
                </a:solidFill>
                <a:latin typeface="Calibri" pitchFamily="34" charset="0"/>
                <a:ea typeface="Calibri" pitchFamily="34" charset="-122"/>
                <a:cs typeface="Calibri" pitchFamily="34" charset="-120"/>
              </a:rPr>
              <a:t>Извори замењени без измене алгоритма</a:t>
            </a:r>
            <a:endParaRPr lang="en-US" sz="1450" dirty="0"/>
          </a:p>
        </p:txBody>
      </p:sp>
      <p:sp>
        <p:nvSpPr>
          <p:cNvPr id="15" name="Shape 10"/>
          <p:cNvSpPr/>
          <p:nvPr/>
        </p:nvSpPr>
        <p:spPr>
          <a:xfrm>
            <a:off x="1005840" y="4096512"/>
            <a:ext cx="384048" cy="384048"/>
          </a:xfrm>
          <a:prstGeom prst="ellipse">
            <a:avLst/>
          </a:prstGeom>
          <a:solidFill>
            <a:srgbClr val="16385E"/>
          </a:solidFill>
          <a:ln w="12700">
            <a:solidFill>
              <a:srgbClr val="16385E"/>
            </a:solidFill>
            <a:prstDash val="solid"/>
          </a:ln>
        </p:spPr>
      </p:sp>
      <p:pic>
        <p:nvPicPr>
          <p:cNvPr id="16" name="Image 3" descr="preencoded.png">    </p:cNvPr>
          <p:cNvPicPr>
            <a:picLocks noChangeAspect="1"/>
          </p:cNvPicPr>
          <p:nvPr/>
        </p:nvPicPr>
        <p:blipFill>
          <a:blip r:embed="rId4"/>
          <a:stretch>
            <a:fillRect/>
          </a:stretch>
        </p:blipFill>
        <p:spPr>
          <a:xfrm>
            <a:off x="1088136" y="4178808"/>
            <a:ext cx="219456" cy="219456"/>
          </a:xfrm>
          <a:prstGeom prst="rect">
            <a:avLst/>
          </a:prstGeom>
        </p:spPr>
      </p:pic>
      <p:sp>
        <p:nvSpPr>
          <p:cNvPr id="17" name="Text 11"/>
          <p:cNvSpPr txBox="1"/>
          <p:nvPr/>
        </p:nvSpPr>
        <p:spPr>
          <a:xfrm>
            <a:off x="1554480" y="4069080"/>
            <a:ext cx="4069080" cy="731520"/>
          </a:xfrm>
          <a:prstGeom prst="rect">
            <a:avLst/>
          </a:prstGeom>
          <a:noFill/>
          <a:ln/>
        </p:spPr>
        <p:txBody>
          <a:bodyPr wrap="square" lIns="0" tIns="0" rIns="0" bIns="0" rtlCol="0" anchor="t"/>
          <a:lstStyle/>
          <a:p>
            <a:pPr indent="0" marL="0">
              <a:buNone/>
            </a:pPr>
            <a:r>
              <a:rPr lang="en-US" sz="1450" dirty="0">
                <a:solidFill>
                  <a:srgbClr val="102A45"/>
                </a:solidFill>
                <a:latin typeface="Calibri" pitchFamily="34" charset="0"/>
                <a:ea typeface="Calibri" pitchFamily="34" charset="-122"/>
                <a:cs typeface="Calibri" pitchFamily="34" charset="-120"/>
              </a:rPr>
              <a:t>Алгоритам далеко испод границе од 1 с</a:t>
            </a:r>
            <a:endParaRPr lang="en-US" sz="1450" dirty="0"/>
          </a:p>
        </p:txBody>
      </p:sp>
      <p:sp>
        <p:nvSpPr>
          <p:cNvPr id="18" name="Shape 12"/>
          <p:cNvSpPr/>
          <p:nvPr/>
        </p:nvSpPr>
        <p:spPr>
          <a:xfrm>
            <a:off x="1005840" y="4965192"/>
            <a:ext cx="384048" cy="384048"/>
          </a:xfrm>
          <a:prstGeom prst="ellipse">
            <a:avLst/>
          </a:prstGeom>
          <a:solidFill>
            <a:srgbClr val="16385E"/>
          </a:solidFill>
          <a:ln w="12700">
            <a:solidFill>
              <a:srgbClr val="16385E"/>
            </a:solidFill>
            <a:prstDash val="solid"/>
          </a:ln>
        </p:spPr>
      </p:sp>
      <p:pic>
        <p:nvPicPr>
          <p:cNvPr id="19" name="Image 4" descr="preencoded.png">    </p:cNvPr>
          <p:cNvPicPr>
            <a:picLocks noChangeAspect="1"/>
          </p:cNvPicPr>
          <p:nvPr/>
        </p:nvPicPr>
        <p:blipFill>
          <a:blip r:embed="rId5"/>
          <a:stretch>
            <a:fillRect/>
          </a:stretch>
        </p:blipFill>
        <p:spPr>
          <a:xfrm>
            <a:off x="1088136" y="5047488"/>
            <a:ext cx="219456" cy="219456"/>
          </a:xfrm>
          <a:prstGeom prst="rect">
            <a:avLst/>
          </a:prstGeom>
        </p:spPr>
      </p:pic>
      <p:sp>
        <p:nvSpPr>
          <p:cNvPr id="20" name="Text 13"/>
          <p:cNvSpPr txBox="1"/>
          <p:nvPr/>
        </p:nvSpPr>
        <p:spPr>
          <a:xfrm>
            <a:off x="1554480" y="4937760"/>
            <a:ext cx="4069080" cy="731520"/>
          </a:xfrm>
          <a:prstGeom prst="rect">
            <a:avLst/>
          </a:prstGeom>
          <a:noFill/>
          <a:ln/>
        </p:spPr>
        <p:txBody>
          <a:bodyPr wrap="square" lIns="0" tIns="0" rIns="0" bIns="0" rtlCol="0" anchor="t"/>
          <a:lstStyle/>
          <a:p>
            <a:pPr indent="0" marL="0">
              <a:buNone/>
            </a:pPr>
            <a:r>
              <a:rPr lang="en-US" sz="1450" dirty="0">
                <a:solidFill>
                  <a:srgbClr val="102A45"/>
                </a:solidFill>
                <a:latin typeface="Calibri" pitchFamily="34" charset="0"/>
                <a:ea typeface="Calibri" pitchFamily="34" charset="-122"/>
                <a:cs typeface="Calibri" pitchFamily="34" charset="-120"/>
              </a:rPr>
              <a:t>Чување, измена и резервација лета уз заштиту од промена података</a:t>
            </a:r>
            <a:endParaRPr lang="en-US" sz="1450" dirty="0"/>
          </a:p>
        </p:txBody>
      </p:sp>
      <p:sp>
        <p:nvSpPr>
          <p:cNvPr id="21" name="Shape 14"/>
          <p:cNvSpPr/>
          <p:nvPr/>
        </p:nvSpPr>
        <p:spPr>
          <a:xfrm>
            <a:off x="6263640" y="1600200"/>
            <a:ext cx="5242255" cy="4343400"/>
          </a:xfrm>
          <a:prstGeom prst="roundRect">
            <a:avLst>
              <a:gd name="adj" fmla="val 2526"/>
            </a:avLst>
          </a:prstGeom>
          <a:solidFill>
            <a:srgbClr val="16385E"/>
          </a:solidFill>
          <a:ln w="12700">
            <a:solidFill>
              <a:srgbClr val="16385E"/>
            </a:solidFill>
            <a:prstDash val="solid"/>
          </a:ln>
        </p:spPr>
      </p:sp>
      <p:pic>
        <p:nvPicPr>
          <p:cNvPr id="22" name="Image 5" descr="">    </p:cNvPr>
          <p:cNvPicPr>
            <a:picLocks noChangeAspect="1"/>
          </p:cNvPicPr>
          <p:nvPr/>
        </p:nvPicPr>
        <p:blipFill>
          <a:blip r:embed="rId6"/>
          <a:stretch>
            <a:fillRect/>
          </a:stretch>
        </p:blipFill>
        <p:spPr>
          <a:xfrm>
            <a:off x="6812280" y="3291840"/>
            <a:ext cx="4144975" cy="2596565"/>
          </a:xfrm>
          <a:prstGeom prst="rect">
            <a:avLst/>
          </a:prstGeom>
        </p:spPr>
      </p:pic>
      <p:sp>
        <p:nvSpPr>
          <p:cNvPr id="23" name="Text 15"/>
          <p:cNvSpPr txBox="1"/>
          <p:nvPr/>
        </p:nvSpPr>
        <p:spPr>
          <a:xfrm>
            <a:off x="6583680" y="1783080"/>
            <a:ext cx="3657600"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Даљи развој</a:t>
            </a:r>
            <a:endParaRPr lang="en-US" sz="1800" dirty="0"/>
          </a:p>
        </p:txBody>
      </p:sp>
      <p:sp>
        <p:nvSpPr>
          <p:cNvPr id="24" name="Text 16"/>
          <p:cNvSpPr txBox="1"/>
          <p:nvPr/>
        </p:nvSpPr>
        <p:spPr>
          <a:xfrm>
            <a:off x="6583680" y="2331720"/>
            <a:ext cx="4602175" cy="33832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путовања кроз више градова</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приказ плана на мапи и извоз у PDF</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стварни подаци о јавном превозу</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обједињен избор атракција и расподела по данима</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ред порука и контејнери; тестирање оптерећења</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385E"/>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2011680" y="822960"/>
            <a:ext cx="8138160" cy="5098043"/>
          </a:xfrm>
          <a:prstGeom prst="rect">
            <a:avLst/>
          </a:prstGeom>
        </p:spPr>
      </p:pic>
      <p:pic>
        <p:nvPicPr>
          <p:cNvPr id="3" name="Image 1" descr="">    </p:cNvPr>
          <p:cNvPicPr>
            <a:picLocks noChangeAspect="1"/>
          </p:cNvPicPr>
          <p:nvPr/>
        </p:nvPicPr>
        <p:blipFill>
          <a:blip r:embed="rId2"/>
          <a:stretch>
            <a:fillRect/>
          </a:stretch>
        </p:blipFill>
        <p:spPr>
          <a:xfrm>
            <a:off x="5592928" y="1325880"/>
            <a:ext cx="1005840" cy="992482"/>
          </a:xfrm>
          <a:prstGeom prst="rect">
            <a:avLst/>
          </a:prstGeom>
        </p:spPr>
      </p:pic>
      <p:sp>
        <p:nvSpPr>
          <p:cNvPr id="4" name="Text 0"/>
          <p:cNvSpPr txBox="1"/>
          <p:nvPr/>
        </p:nvSpPr>
        <p:spPr>
          <a:xfrm>
            <a:off x="914400" y="2743200"/>
            <a:ext cx="10362895" cy="914400"/>
          </a:xfrm>
          <a:prstGeom prst="rect">
            <a:avLst/>
          </a:prstGeom>
          <a:noFill/>
          <a:ln/>
        </p:spPr>
        <p:txBody>
          <a:bodyPr wrap="square" lIns="0" tIns="0" rIns="0" bIns="0" rtlCol="0" anchor="ctr"/>
          <a:lstStyle/>
          <a:p>
            <a:pPr algn="ctr" indent="0" marL="0">
              <a:buNone/>
            </a:pPr>
            <a:r>
              <a:rPr lang="en-US" sz="4400" dirty="0">
                <a:solidFill>
                  <a:srgbClr val="FFFFFF"/>
                </a:solidFill>
                <a:latin typeface="Cambria" pitchFamily="34" charset="0"/>
                <a:ea typeface="Cambria" pitchFamily="34" charset="-122"/>
                <a:cs typeface="Cambria" pitchFamily="34" charset="-120"/>
              </a:rPr>
              <a:t>Хвала на пажњи!</a:t>
            </a:r>
            <a:endParaRPr lang="en-US" sz="4400" dirty="0"/>
          </a:p>
        </p:txBody>
      </p:sp>
      <p:sp>
        <p:nvSpPr>
          <p:cNvPr id="5" name="Text 1"/>
          <p:cNvSpPr txBox="1"/>
          <p:nvPr/>
        </p:nvSpPr>
        <p:spPr>
          <a:xfrm>
            <a:off x="914400" y="3703320"/>
            <a:ext cx="10362895" cy="548640"/>
          </a:xfrm>
          <a:prstGeom prst="rect">
            <a:avLst/>
          </a:prstGeom>
          <a:noFill/>
          <a:ln/>
        </p:spPr>
        <p:txBody>
          <a:bodyPr wrap="square" lIns="0" tIns="0" rIns="0" bIns="0" rtlCol="0" anchor="ctr"/>
          <a:lstStyle/>
          <a:p>
            <a:pPr algn="ctr" indent="0" marL="0">
              <a:buNone/>
            </a:pPr>
            <a:r>
              <a:rPr lang="en-US" sz="2400" i="1" dirty="0">
                <a:solidFill>
                  <a:srgbClr val="8FB3D9"/>
                </a:solidFill>
                <a:latin typeface="Cambria" pitchFamily="34" charset="0"/>
                <a:ea typeface="Cambria" pitchFamily="34" charset="-122"/>
                <a:cs typeface="Cambria" pitchFamily="34" charset="-120"/>
              </a:rPr>
              <a:t>Питања?</a:t>
            </a:r>
            <a:endParaRPr lang="en-US" sz="2400" dirty="0"/>
          </a:p>
        </p:txBody>
      </p:sp>
      <p:sp>
        <p:nvSpPr>
          <p:cNvPr id="6" name="Text 2"/>
          <p:cNvSpPr txBox="1"/>
          <p:nvPr/>
        </p:nvSpPr>
        <p:spPr>
          <a:xfrm>
            <a:off x="914400" y="5760720"/>
            <a:ext cx="10362895" cy="365760"/>
          </a:xfrm>
          <a:prstGeom prst="rect">
            <a:avLst/>
          </a:prstGeom>
          <a:noFill/>
          <a:ln/>
        </p:spPr>
        <p:txBody>
          <a:bodyPr wrap="square" lIns="0" tIns="0" rIns="0" bIns="0" rtlCol="0" anchor="t"/>
          <a:lstStyle/>
          <a:p>
            <a:pPr algn="ctr" indent="0" marL="0">
              <a:buNone/>
            </a:pPr>
            <a:r>
              <a:rPr lang="en-US" sz="1300" dirty="0">
                <a:solidFill>
                  <a:srgbClr val="C9D6E6"/>
                </a:solidFill>
                <a:latin typeface="Calibri" pitchFamily="34" charset="0"/>
                <a:ea typeface="Calibri" pitchFamily="34" charset="-122"/>
                <a:cs typeface="Calibri" pitchFamily="34" charset="-120"/>
              </a:rPr>
              <a:t>Јована Чегањац  ·  2022/0423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Voyra — Пројектовање и имплементација микросервисне апликације за планирање путовања</dc:title>
  <dc:subject>PptxGenJS Presentation</dc:subject>
  <dc:creator>Јована Чегањац</dc:creator>
  <cp:lastModifiedBy>Јована Чегањац</cp:lastModifiedBy>
  <cp:revision>1</cp:revision>
  <dcterms:created xsi:type="dcterms:W3CDTF">2026-10-01T08:58:07Z</dcterms:created>
  <dcterms:modified xsi:type="dcterms:W3CDTF">2026-10-01T08:58:07Z</dcterms:modified>
</cp:coreProperties>
</file>